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8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3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大家好，欢迎参加本次智慧通项目汇报。今天，我将向大家详细介绍我们为企业打造的智能会议协同平台——智慧通，以及它将如何助力企业实现会议管理的数字化升级。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次汇报将分为六个部分，首先我们会明确项目的定位与核心价值，接着分析用户痛点和应用场景，然后介绍我们的全流程解决方案，并重点详解四大核心功能，最后展示项目的落地成效与商业验证，并进行总结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首先，我们来看项目的定位与核心价值。智慧通旨在成为企业智能会议的核心解决方案，通过AI技术实现降本、提效、提质三大目标，帮助企业优化会议流程，提升决策质量。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在应用价值层面，我们将传统的痛点转化为三大核心优化方向，旨在通过智能化赋能、内容沉淀和安全协同，全面提升会议的价值。这些价值主要体现在内部业务会议、跨部门协作等多种应用场景中。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为了实现这些价值，我们设计了覆盖会议全生命周期的解决方案。从会议的创建、实时转写、AI分析，到成果生成、任务分配、跟踪闭环，最后到知识沉淀，形成一个完整的管理闭环。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支撑这套解决方案的是我们的四大核心功能。首先是语音转写与人声分离，能做到95%的准确率，彻底解决记录问题；其次是AI会议分析与成果生成，5分钟就能产出标准化的会议纪要和任务清单；第三是AI Agent智能问答，它能在会议中实时提供信息支持，打破信息孤岛；最后是协同与权限管理，确保企业数据安全，满足合规要求。这四大功能环环相扣，共同构成了智慧通的核心竞争力。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首先是语音转写与人声分离功能。我们拥有超98%准确率的引擎，并支持实时编辑与修正，让会议记录更准确、更灵活。同时，强大的说话人分离能力，能自动区分不同发言者，让会议内容一目了然。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第二项核心功能是AI会议分析与成果生成。我们不仅能一键生成结构化纪要、思维导图和待办任务，还支持对所有内容进行在线编辑，并能将纪要一键存入个人笔记，极大地提升了会议成果的利用效率。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第三项功能是AI Agent智能问答。需要强调的是，我们的智能问答范围严格限定在所选会议和历史会议内容，确保数据安全。它能进行多轮上下文对话，并提供知识检索辅助，成为您会议中的智能助手。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最后是协同与权限管理功能。我们支持多人实时协同办公，并能将任务和权限精准分配到个人。同时，通过细粒度的权限管控和全流程的数据安全保障，确保企业信息的安全与合规。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6" Type="http://schemas.openxmlformats.org/officeDocument/2006/relationships/notesSlide" Target="../notesSlides/notesSlide3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tags" Target="../tags/tag15.xml"/><Relationship Id="rId20" Type="http://schemas.openxmlformats.org/officeDocument/2006/relationships/tags" Target="../tags/tag14.xml"/><Relationship Id="rId2" Type="http://schemas.openxmlformats.org/officeDocument/2006/relationships/tags" Target="../tags/tag2.xml"/><Relationship Id="rId19" Type="http://schemas.openxmlformats.org/officeDocument/2006/relationships/tags" Target="../tags/tag13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image" Target="../media/image8.svg"/><Relationship Id="rId15" Type="http://schemas.openxmlformats.org/officeDocument/2006/relationships/image" Target="../media/image7.pn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6.sv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13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9" Type="http://schemas.openxmlformats.org/officeDocument/2006/relationships/tags" Target="../tags/tag116.xml"/><Relationship Id="rId98" Type="http://schemas.openxmlformats.org/officeDocument/2006/relationships/tags" Target="../tags/tag115.xml"/><Relationship Id="rId97" Type="http://schemas.openxmlformats.org/officeDocument/2006/relationships/tags" Target="../tags/tag114.xml"/><Relationship Id="rId96" Type="http://schemas.openxmlformats.org/officeDocument/2006/relationships/tags" Target="../tags/tag113.xml"/><Relationship Id="rId95" Type="http://schemas.openxmlformats.org/officeDocument/2006/relationships/tags" Target="../tags/tag112.xml"/><Relationship Id="rId94" Type="http://schemas.openxmlformats.org/officeDocument/2006/relationships/tags" Target="../tags/tag111.xml"/><Relationship Id="rId93" Type="http://schemas.openxmlformats.org/officeDocument/2006/relationships/tags" Target="../tags/tag110.xml"/><Relationship Id="rId92" Type="http://schemas.openxmlformats.org/officeDocument/2006/relationships/tags" Target="../tags/tag109.xml"/><Relationship Id="rId91" Type="http://schemas.openxmlformats.org/officeDocument/2006/relationships/tags" Target="../tags/tag108.xml"/><Relationship Id="rId90" Type="http://schemas.openxmlformats.org/officeDocument/2006/relationships/tags" Target="../tags/tag107.xml"/><Relationship Id="rId9" Type="http://schemas.openxmlformats.org/officeDocument/2006/relationships/tags" Target="../tags/tag26.xml"/><Relationship Id="rId89" Type="http://schemas.openxmlformats.org/officeDocument/2006/relationships/tags" Target="../tags/tag106.xml"/><Relationship Id="rId88" Type="http://schemas.openxmlformats.org/officeDocument/2006/relationships/tags" Target="../tags/tag105.xml"/><Relationship Id="rId87" Type="http://schemas.openxmlformats.org/officeDocument/2006/relationships/tags" Target="../tags/tag104.xml"/><Relationship Id="rId86" Type="http://schemas.openxmlformats.org/officeDocument/2006/relationships/tags" Target="../tags/tag103.xml"/><Relationship Id="rId85" Type="http://schemas.openxmlformats.org/officeDocument/2006/relationships/tags" Target="../tags/tag102.xml"/><Relationship Id="rId84" Type="http://schemas.openxmlformats.org/officeDocument/2006/relationships/tags" Target="../tags/tag101.xml"/><Relationship Id="rId83" Type="http://schemas.openxmlformats.org/officeDocument/2006/relationships/tags" Target="../tags/tag100.xml"/><Relationship Id="rId82" Type="http://schemas.openxmlformats.org/officeDocument/2006/relationships/tags" Target="../tags/tag99.xml"/><Relationship Id="rId81" Type="http://schemas.openxmlformats.org/officeDocument/2006/relationships/tags" Target="../tags/tag98.xml"/><Relationship Id="rId80" Type="http://schemas.openxmlformats.org/officeDocument/2006/relationships/tags" Target="../tags/tag97.xml"/><Relationship Id="rId8" Type="http://schemas.openxmlformats.org/officeDocument/2006/relationships/tags" Target="../tags/tag25.xml"/><Relationship Id="rId79" Type="http://schemas.openxmlformats.org/officeDocument/2006/relationships/tags" Target="../tags/tag96.xml"/><Relationship Id="rId78" Type="http://schemas.openxmlformats.org/officeDocument/2006/relationships/tags" Target="../tags/tag95.xml"/><Relationship Id="rId77" Type="http://schemas.openxmlformats.org/officeDocument/2006/relationships/tags" Target="../tags/tag94.xml"/><Relationship Id="rId76" Type="http://schemas.openxmlformats.org/officeDocument/2006/relationships/tags" Target="../tags/tag93.xml"/><Relationship Id="rId75" Type="http://schemas.openxmlformats.org/officeDocument/2006/relationships/tags" Target="../tags/tag92.xml"/><Relationship Id="rId74" Type="http://schemas.openxmlformats.org/officeDocument/2006/relationships/tags" Target="../tags/tag91.xml"/><Relationship Id="rId73" Type="http://schemas.openxmlformats.org/officeDocument/2006/relationships/tags" Target="../tags/tag90.xml"/><Relationship Id="rId72" Type="http://schemas.openxmlformats.org/officeDocument/2006/relationships/tags" Target="../tags/tag89.xml"/><Relationship Id="rId71" Type="http://schemas.openxmlformats.org/officeDocument/2006/relationships/tags" Target="../tags/tag88.xml"/><Relationship Id="rId70" Type="http://schemas.openxmlformats.org/officeDocument/2006/relationships/tags" Target="../tags/tag87.xml"/><Relationship Id="rId7" Type="http://schemas.openxmlformats.org/officeDocument/2006/relationships/tags" Target="../tags/tag24.xml"/><Relationship Id="rId69" Type="http://schemas.openxmlformats.org/officeDocument/2006/relationships/tags" Target="../tags/tag86.xml"/><Relationship Id="rId68" Type="http://schemas.openxmlformats.org/officeDocument/2006/relationships/tags" Target="../tags/tag85.xml"/><Relationship Id="rId67" Type="http://schemas.openxmlformats.org/officeDocument/2006/relationships/tags" Target="../tags/tag84.xml"/><Relationship Id="rId66" Type="http://schemas.openxmlformats.org/officeDocument/2006/relationships/tags" Target="../tags/tag83.xml"/><Relationship Id="rId65" Type="http://schemas.openxmlformats.org/officeDocument/2006/relationships/tags" Target="../tags/tag82.xml"/><Relationship Id="rId64" Type="http://schemas.openxmlformats.org/officeDocument/2006/relationships/tags" Target="../tags/tag81.xml"/><Relationship Id="rId63" Type="http://schemas.openxmlformats.org/officeDocument/2006/relationships/tags" Target="../tags/tag80.xml"/><Relationship Id="rId62" Type="http://schemas.openxmlformats.org/officeDocument/2006/relationships/tags" Target="../tags/tag79.xml"/><Relationship Id="rId61" Type="http://schemas.openxmlformats.org/officeDocument/2006/relationships/tags" Target="../tags/tag78.xml"/><Relationship Id="rId60" Type="http://schemas.openxmlformats.org/officeDocument/2006/relationships/tags" Target="../tags/tag77.xml"/><Relationship Id="rId6" Type="http://schemas.openxmlformats.org/officeDocument/2006/relationships/tags" Target="../tags/tag23.xml"/><Relationship Id="rId59" Type="http://schemas.openxmlformats.org/officeDocument/2006/relationships/tags" Target="../tags/tag76.xml"/><Relationship Id="rId58" Type="http://schemas.openxmlformats.org/officeDocument/2006/relationships/tags" Target="../tags/tag75.xml"/><Relationship Id="rId57" Type="http://schemas.openxmlformats.org/officeDocument/2006/relationships/tags" Target="../tags/tag74.xml"/><Relationship Id="rId56" Type="http://schemas.openxmlformats.org/officeDocument/2006/relationships/tags" Target="../tags/tag73.xml"/><Relationship Id="rId55" Type="http://schemas.openxmlformats.org/officeDocument/2006/relationships/tags" Target="../tags/tag72.xml"/><Relationship Id="rId54" Type="http://schemas.openxmlformats.org/officeDocument/2006/relationships/tags" Target="../tags/tag71.xml"/><Relationship Id="rId53" Type="http://schemas.openxmlformats.org/officeDocument/2006/relationships/tags" Target="../tags/tag70.xml"/><Relationship Id="rId52" Type="http://schemas.openxmlformats.org/officeDocument/2006/relationships/tags" Target="../tags/tag69.xml"/><Relationship Id="rId51" Type="http://schemas.openxmlformats.org/officeDocument/2006/relationships/tags" Target="../tags/tag68.xml"/><Relationship Id="rId50" Type="http://schemas.openxmlformats.org/officeDocument/2006/relationships/tags" Target="../tags/tag67.xml"/><Relationship Id="rId5" Type="http://schemas.openxmlformats.org/officeDocument/2006/relationships/tags" Target="../tags/tag22.xml"/><Relationship Id="rId49" Type="http://schemas.openxmlformats.org/officeDocument/2006/relationships/tags" Target="../tags/tag66.xml"/><Relationship Id="rId48" Type="http://schemas.openxmlformats.org/officeDocument/2006/relationships/tags" Target="../tags/tag65.xml"/><Relationship Id="rId47" Type="http://schemas.openxmlformats.org/officeDocument/2006/relationships/tags" Target="../tags/tag64.xml"/><Relationship Id="rId46" Type="http://schemas.openxmlformats.org/officeDocument/2006/relationships/tags" Target="../tags/tag63.xml"/><Relationship Id="rId45" Type="http://schemas.openxmlformats.org/officeDocument/2006/relationships/tags" Target="../tags/tag62.xml"/><Relationship Id="rId44" Type="http://schemas.openxmlformats.org/officeDocument/2006/relationships/tags" Target="../tags/tag61.xml"/><Relationship Id="rId43" Type="http://schemas.openxmlformats.org/officeDocument/2006/relationships/tags" Target="../tags/tag60.xml"/><Relationship Id="rId42" Type="http://schemas.openxmlformats.org/officeDocument/2006/relationships/tags" Target="../tags/tag59.xml"/><Relationship Id="rId41" Type="http://schemas.openxmlformats.org/officeDocument/2006/relationships/tags" Target="../tags/tag58.xml"/><Relationship Id="rId40" Type="http://schemas.openxmlformats.org/officeDocument/2006/relationships/tags" Target="../tags/tag57.xml"/><Relationship Id="rId4" Type="http://schemas.openxmlformats.org/officeDocument/2006/relationships/tags" Target="../tags/tag21.xml"/><Relationship Id="rId39" Type="http://schemas.openxmlformats.org/officeDocument/2006/relationships/tags" Target="../tags/tag56.xml"/><Relationship Id="rId38" Type="http://schemas.openxmlformats.org/officeDocument/2006/relationships/tags" Target="../tags/tag55.xml"/><Relationship Id="rId37" Type="http://schemas.openxmlformats.org/officeDocument/2006/relationships/tags" Target="../tags/tag54.xml"/><Relationship Id="rId36" Type="http://schemas.openxmlformats.org/officeDocument/2006/relationships/tags" Target="../tags/tag53.xml"/><Relationship Id="rId35" Type="http://schemas.openxmlformats.org/officeDocument/2006/relationships/tags" Target="../tags/tag52.xml"/><Relationship Id="rId34" Type="http://schemas.openxmlformats.org/officeDocument/2006/relationships/tags" Target="../tags/tag51.xml"/><Relationship Id="rId33" Type="http://schemas.openxmlformats.org/officeDocument/2006/relationships/tags" Target="../tags/tag50.xml"/><Relationship Id="rId32" Type="http://schemas.openxmlformats.org/officeDocument/2006/relationships/tags" Target="../tags/tag49.xml"/><Relationship Id="rId31" Type="http://schemas.openxmlformats.org/officeDocument/2006/relationships/tags" Target="../tags/tag48.xml"/><Relationship Id="rId30" Type="http://schemas.openxmlformats.org/officeDocument/2006/relationships/tags" Target="../tags/tag47.xml"/><Relationship Id="rId3" Type="http://schemas.openxmlformats.org/officeDocument/2006/relationships/tags" Target="../tags/tag20.xml"/><Relationship Id="rId29" Type="http://schemas.openxmlformats.org/officeDocument/2006/relationships/tags" Target="../tags/tag46.xml"/><Relationship Id="rId28" Type="http://schemas.openxmlformats.org/officeDocument/2006/relationships/tags" Target="../tags/tag45.xml"/><Relationship Id="rId27" Type="http://schemas.openxmlformats.org/officeDocument/2006/relationships/tags" Target="../tags/tag44.xml"/><Relationship Id="rId26" Type="http://schemas.openxmlformats.org/officeDocument/2006/relationships/tags" Target="../tags/tag43.xml"/><Relationship Id="rId25" Type="http://schemas.openxmlformats.org/officeDocument/2006/relationships/tags" Target="../tags/tag42.xml"/><Relationship Id="rId24" Type="http://schemas.openxmlformats.org/officeDocument/2006/relationships/tags" Target="../tags/tag41.xml"/><Relationship Id="rId23" Type="http://schemas.openxmlformats.org/officeDocument/2006/relationships/tags" Target="../tags/tag40.xml"/><Relationship Id="rId22" Type="http://schemas.openxmlformats.org/officeDocument/2006/relationships/tags" Target="../tags/tag39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19.xml"/><Relationship Id="rId193" Type="http://schemas.openxmlformats.org/officeDocument/2006/relationships/notesSlide" Target="../notesSlides/notesSlide6.xml"/><Relationship Id="rId192" Type="http://schemas.openxmlformats.org/officeDocument/2006/relationships/slideLayout" Target="../slideLayouts/slideLayout12.xml"/><Relationship Id="rId191" Type="http://schemas.openxmlformats.org/officeDocument/2006/relationships/tags" Target="../tags/tag208.xml"/><Relationship Id="rId190" Type="http://schemas.openxmlformats.org/officeDocument/2006/relationships/tags" Target="../tags/tag207.xml"/><Relationship Id="rId19" Type="http://schemas.openxmlformats.org/officeDocument/2006/relationships/tags" Target="../tags/tag36.xml"/><Relationship Id="rId189" Type="http://schemas.openxmlformats.org/officeDocument/2006/relationships/tags" Target="../tags/tag206.xml"/><Relationship Id="rId188" Type="http://schemas.openxmlformats.org/officeDocument/2006/relationships/tags" Target="../tags/tag205.xml"/><Relationship Id="rId187" Type="http://schemas.openxmlformats.org/officeDocument/2006/relationships/tags" Target="../tags/tag204.xml"/><Relationship Id="rId186" Type="http://schemas.openxmlformats.org/officeDocument/2006/relationships/tags" Target="../tags/tag203.xml"/><Relationship Id="rId185" Type="http://schemas.openxmlformats.org/officeDocument/2006/relationships/tags" Target="../tags/tag202.xml"/><Relationship Id="rId184" Type="http://schemas.openxmlformats.org/officeDocument/2006/relationships/tags" Target="../tags/tag201.xml"/><Relationship Id="rId183" Type="http://schemas.openxmlformats.org/officeDocument/2006/relationships/tags" Target="../tags/tag200.xml"/><Relationship Id="rId182" Type="http://schemas.openxmlformats.org/officeDocument/2006/relationships/tags" Target="../tags/tag199.xml"/><Relationship Id="rId181" Type="http://schemas.openxmlformats.org/officeDocument/2006/relationships/tags" Target="../tags/tag198.xml"/><Relationship Id="rId180" Type="http://schemas.openxmlformats.org/officeDocument/2006/relationships/tags" Target="../tags/tag197.xml"/><Relationship Id="rId18" Type="http://schemas.openxmlformats.org/officeDocument/2006/relationships/tags" Target="../tags/tag35.xml"/><Relationship Id="rId179" Type="http://schemas.openxmlformats.org/officeDocument/2006/relationships/tags" Target="../tags/tag196.xml"/><Relationship Id="rId178" Type="http://schemas.openxmlformats.org/officeDocument/2006/relationships/tags" Target="../tags/tag195.xml"/><Relationship Id="rId177" Type="http://schemas.openxmlformats.org/officeDocument/2006/relationships/tags" Target="../tags/tag194.xml"/><Relationship Id="rId176" Type="http://schemas.openxmlformats.org/officeDocument/2006/relationships/tags" Target="../tags/tag193.xml"/><Relationship Id="rId175" Type="http://schemas.openxmlformats.org/officeDocument/2006/relationships/tags" Target="../tags/tag192.xml"/><Relationship Id="rId174" Type="http://schemas.openxmlformats.org/officeDocument/2006/relationships/tags" Target="../tags/tag191.xml"/><Relationship Id="rId173" Type="http://schemas.openxmlformats.org/officeDocument/2006/relationships/tags" Target="../tags/tag190.xml"/><Relationship Id="rId172" Type="http://schemas.openxmlformats.org/officeDocument/2006/relationships/tags" Target="../tags/tag189.xml"/><Relationship Id="rId171" Type="http://schemas.openxmlformats.org/officeDocument/2006/relationships/tags" Target="../tags/tag188.xml"/><Relationship Id="rId170" Type="http://schemas.openxmlformats.org/officeDocument/2006/relationships/tags" Target="../tags/tag187.xml"/><Relationship Id="rId17" Type="http://schemas.openxmlformats.org/officeDocument/2006/relationships/tags" Target="../tags/tag34.xml"/><Relationship Id="rId169" Type="http://schemas.openxmlformats.org/officeDocument/2006/relationships/tags" Target="../tags/tag186.xml"/><Relationship Id="rId168" Type="http://schemas.openxmlformats.org/officeDocument/2006/relationships/tags" Target="../tags/tag185.xml"/><Relationship Id="rId167" Type="http://schemas.openxmlformats.org/officeDocument/2006/relationships/tags" Target="../tags/tag184.xml"/><Relationship Id="rId166" Type="http://schemas.openxmlformats.org/officeDocument/2006/relationships/tags" Target="../tags/tag183.xml"/><Relationship Id="rId165" Type="http://schemas.openxmlformats.org/officeDocument/2006/relationships/tags" Target="../tags/tag182.xml"/><Relationship Id="rId164" Type="http://schemas.openxmlformats.org/officeDocument/2006/relationships/tags" Target="../tags/tag181.xml"/><Relationship Id="rId163" Type="http://schemas.openxmlformats.org/officeDocument/2006/relationships/tags" Target="../tags/tag180.xml"/><Relationship Id="rId162" Type="http://schemas.openxmlformats.org/officeDocument/2006/relationships/tags" Target="../tags/tag179.xml"/><Relationship Id="rId161" Type="http://schemas.openxmlformats.org/officeDocument/2006/relationships/tags" Target="../tags/tag178.xml"/><Relationship Id="rId160" Type="http://schemas.openxmlformats.org/officeDocument/2006/relationships/tags" Target="../tags/tag177.xml"/><Relationship Id="rId16" Type="http://schemas.openxmlformats.org/officeDocument/2006/relationships/tags" Target="../tags/tag33.xml"/><Relationship Id="rId159" Type="http://schemas.openxmlformats.org/officeDocument/2006/relationships/tags" Target="../tags/tag176.xml"/><Relationship Id="rId158" Type="http://schemas.openxmlformats.org/officeDocument/2006/relationships/tags" Target="../tags/tag175.xml"/><Relationship Id="rId157" Type="http://schemas.openxmlformats.org/officeDocument/2006/relationships/tags" Target="../tags/tag174.xml"/><Relationship Id="rId156" Type="http://schemas.openxmlformats.org/officeDocument/2006/relationships/tags" Target="../tags/tag173.xml"/><Relationship Id="rId155" Type="http://schemas.openxmlformats.org/officeDocument/2006/relationships/tags" Target="../tags/tag172.xml"/><Relationship Id="rId154" Type="http://schemas.openxmlformats.org/officeDocument/2006/relationships/tags" Target="../tags/tag171.xml"/><Relationship Id="rId153" Type="http://schemas.openxmlformats.org/officeDocument/2006/relationships/tags" Target="../tags/tag170.xml"/><Relationship Id="rId152" Type="http://schemas.openxmlformats.org/officeDocument/2006/relationships/tags" Target="../tags/tag169.xml"/><Relationship Id="rId151" Type="http://schemas.openxmlformats.org/officeDocument/2006/relationships/tags" Target="../tags/tag168.xml"/><Relationship Id="rId150" Type="http://schemas.openxmlformats.org/officeDocument/2006/relationships/tags" Target="../tags/tag167.xml"/><Relationship Id="rId15" Type="http://schemas.openxmlformats.org/officeDocument/2006/relationships/tags" Target="../tags/tag32.xml"/><Relationship Id="rId149" Type="http://schemas.openxmlformats.org/officeDocument/2006/relationships/tags" Target="../tags/tag166.xml"/><Relationship Id="rId148" Type="http://schemas.openxmlformats.org/officeDocument/2006/relationships/tags" Target="../tags/tag165.xml"/><Relationship Id="rId147" Type="http://schemas.openxmlformats.org/officeDocument/2006/relationships/tags" Target="../tags/tag164.xml"/><Relationship Id="rId146" Type="http://schemas.openxmlformats.org/officeDocument/2006/relationships/tags" Target="../tags/tag163.xml"/><Relationship Id="rId145" Type="http://schemas.openxmlformats.org/officeDocument/2006/relationships/tags" Target="../tags/tag162.xml"/><Relationship Id="rId144" Type="http://schemas.openxmlformats.org/officeDocument/2006/relationships/tags" Target="../tags/tag161.xml"/><Relationship Id="rId143" Type="http://schemas.openxmlformats.org/officeDocument/2006/relationships/tags" Target="../tags/tag160.xml"/><Relationship Id="rId142" Type="http://schemas.openxmlformats.org/officeDocument/2006/relationships/tags" Target="../tags/tag159.xml"/><Relationship Id="rId141" Type="http://schemas.openxmlformats.org/officeDocument/2006/relationships/tags" Target="../tags/tag158.xml"/><Relationship Id="rId140" Type="http://schemas.openxmlformats.org/officeDocument/2006/relationships/tags" Target="../tags/tag157.xml"/><Relationship Id="rId14" Type="http://schemas.openxmlformats.org/officeDocument/2006/relationships/tags" Target="../tags/tag31.xml"/><Relationship Id="rId139" Type="http://schemas.openxmlformats.org/officeDocument/2006/relationships/tags" Target="../tags/tag156.xml"/><Relationship Id="rId138" Type="http://schemas.openxmlformats.org/officeDocument/2006/relationships/tags" Target="../tags/tag155.xml"/><Relationship Id="rId137" Type="http://schemas.openxmlformats.org/officeDocument/2006/relationships/tags" Target="../tags/tag154.xml"/><Relationship Id="rId136" Type="http://schemas.openxmlformats.org/officeDocument/2006/relationships/tags" Target="../tags/tag153.xml"/><Relationship Id="rId135" Type="http://schemas.openxmlformats.org/officeDocument/2006/relationships/tags" Target="../tags/tag152.xml"/><Relationship Id="rId134" Type="http://schemas.openxmlformats.org/officeDocument/2006/relationships/tags" Target="../tags/tag151.xml"/><Relationship Id="rId133" Type="http://schemas.openxmlformats.org/officeDocument/2006/relationships/tags" Target="../tags/tag150.xml"/><Relationship Id="rId132" Type="http://schemas.openxmlformats.org/officeDocument/2006/relationships/tags" Target="../tags/tag149.xml"/><Relationship Id="rId131" Type="http://schemas.openxmlformats.org/officeDocument/2006/relationships/tags" Target="../tags/tag148.xml"/><Relationship Id="rId130" Type="http://schemas.openxmlformats.org/officeDocument/2006/relationships/tags" Target="../tags/tag147.xml"/><Relationship Id="rId13" Type="http://schemas.openxmlformats.org/officeDocument/2006/relationships/tags" Target="../tags/tag30.xml"/><Relationship Id="rId129" Type="http://schemas.openxmlformats.org/officeDocument/2006/relationships/tags" Target="../tags/tag146.xml"/><Relationship Id="rId128" Type="http://schemas.openxmlformats.org/officeDocument/2006/relationships/tags" Target="../tags/tag145.xml"/><Relationship Id="rId127" Type="http://schemas.openxmlformats.org/officeDocument/2006/relationships/tags" Target="../tags/tag144.xml"/><Relationship Id="rId126" Type="http://schemas.openxmlformats.org/officeDocument/2006/relationships/tags" Target="../tags/tag143.xml"/><Relationship Id="rId125" Type="http://schemas.openxmlformats.org/officeDocument/2006/relationships/tags" Target="../tags/tag142.xml"/><Relationship Id="rId124" Type="http://schemas.openxmlformats.org/officeDocument/2006/relationships/tags" Target="../tags/tag141.xml"/><Relationship Id="rId123" Type="http://schemas.openxmlformats.org/officeDocument/2006/relationships/tags" Target="../tags/tag140.xml"/><Relationship Id="rId122" Type="http://schemas.openxmlformats.org/officeDocument/2006/relationships/tags" Target="../tags/tag139.xml"/><Relationship Id="rId121" Type="http://schemas.openxmlformats.org/officeDocument/2006/relationships/tags" Target="../tags/tag138.xml"/><Relationship Id="rId120" Type="http://schemas.openxmlformats.org/officeDocument/2006/relationships/tags" Target="../tags/tag137.xml"/><Relationship Id="rId12" Type="http://schemas.openxmlformats.org/officeDocument/2006/relationships/tags" Target="../tags/tag29.xml"/><Relationship Id="rId119" Type="http://schemas.openxmlformats.org/officeDocument/2006/relationships/tags" Target="../tags/tag136.xml"/><Relationship Id="rId118" Type="http://schemas.openxmlformats.org/officeDocument/2006/relationships/tags" Target="../tags/tag135.xml"/><Relationship Id="rId117" Type="http://schemas.openxmlformats.org/officeDocument/2006/relationships/tags" Target="../tags/tag134.xml"/><Relationship Id="rId116" Type="http://schemas.openxmlformats.org/officeDocument/2006/relationships/tags" Target="../tags/tag133.xml"/><Relationship Id="rId115" Type="http://schemas.openxmlformats.org/officeDocument/2006/relationships/tags" Target="../tags/tag132.xml"/><Relationship Id="rId114" Type="http://schemas.openxmlformats.org/officeDocument/2006/relationships/tags" Target="../tags/tag131.xml"/><Relationship Id="rId113" Type="http://schemas.openxmlformats.org/officeDocument/2006/relationships/tags" Target="../tags/tag130.xml"/><Relationship Id="rId112" Type="http://schemas.openxmlformats.org/officeDocument/2006/relationships/tags" Target="../tags/tag129.xml"/><Relationship Id="rId111" Type="http://schemas.openxmlformats.org/officeDocument/2006/relationships/tags" Target="../tags/tag128.xml"/><Relationship Id="rId110" Type="http://schemas.openxmlformats.org/officeDocument/2006/relationships/tags" Target="../tags/tag127.xml"/><Relationship Id="rId11" Type="http://schemas.openxmlformats.org/officeDocument/2006/relationships/tags" Target="../tags/tag28.xml"/><Relationship Id="rId109" Type="http://schemas.openxmlformats.org/officeDocument/2006/relationships/tags" Target="../tags/tag126.xml"/><Relationship Id="rId108" Type="http://schemas.openxmlformats.org/officeDocument/2006/relationships/tags" Target="../tags/tag125.xml"/><Relationship Id="rId107" Type="http://schemas.openxmlformats.org/officeDocument/2006/relationships/tags" Target="../tags/tag124.xml"/><Relationship Id="rId106" Type="http://schemas.openxmlformats.org/officeDocument/2006/relationships/tags" Target="../tags/tag123.xml"/><Relationship Id="rId105" Type="http://schemas.openxmlformats.org/officeDocument/2006/relationships/tags" Target="../tags/tag122.xml"/><Relationship Id="rId104" Type="http://schemas.openxmlformats.org/officeDocument/2006/relationships/tags" Target="../tags/tag121.xml"/><Relationship Id="rId103" Type="http://schemas.openxmlformats.org/officeDocument/2006/relationships/tags" Target="../tags/tag120.xml"/><Relationship Id="rId102" Type="http://schemas.openxmlformats.org/officeDocument/2006/relationships/tags" Target="../tags/tag119.xml"/><Relationship Id="rId101" Type="http://schemas.openxmlformats.org/officeDocument/2006/relationships/tags" Target="../tags/tag118.xml"/><Relationship Id="rId100" Type="http://schemas.openxmlformats.org/officeDocument/2006/relationships/tags" Target="../tags/tag117.xml"/><Relationship Id="rId10" Type="http://schemas.openxmlformats.org/officeDocument/2006/relationships/tags" Target="../tags/tag2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image" Target="../media/image24.png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image" Target="../media/image23.png"/><Relationship Id="rId2" Type="http://schemas.openxmlformats.org/officeDocument/2006/relationships/tags" Target="../tags/tag210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28.png"/><Relationship Id="rId14" Type="http://schemas.openxmlformats.org/officeDocument/2006/relationships/image" Target="../media/image27.png"/><Relationship Id="rId13" Type="http://schemas.openxmlformats.org/officeDocument/2006/relationships/image" Target="../media/image26.png"/><Relationship Id="rId12" Type="http://schemas.openxmlformats.org/officeDocument/2006/relationships/tags" Target="../tags/tag217.xml"/><Relationship Id="rId11" Type="http://schemas.openxmlformats.org/officeDocument/2006/relationships/image" Target="../media/image25.png"/><Relationship Id="rId10" Type="http://schemas.openxmlformats.org/officeDocument/2006/relationships/tags" Target="../tags/tag216.xml"/><Relationship Id="rId1" Type="http://schemas.openxmlformats.org/officeDocument/2006/relationships/tags" Target="../tags/tag209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image" Target="../media/image34.png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image" Target="../media/image33.png"/><Relationship Id="rId2" Type="http://schemas.openxmlformats.org/officeDocument/2006/relationships/tags" Target="../tags/tag219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37.png"/><Relationship Id="rId13" Type="http://schemas.openxmlformats.org/officeDocument/2006/relationships/image" Target="../media/image36.png"/><Relationship Id="rId12" Type="http://schemas.openxmlformats.org/officeDocument/2006/relationships/tags" Target="../tags/tag226.xml"/><Relationship Id="rId11" Type="http://schemas.openxmlformats.org/officeDocument/2006/relationships/image" Target="../media/image35.png"/><Relationship Id="rId10" Type="http://schemas.openxmlformats.org/officeDocument/2006/relationships/tags" Target="../tags/tag225.xml"/><Relationship Id="rId1" Type="http://schemas.openxmlformats.org/officeDocument/2006/relationships/tags" Target="../tags/tag218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52FF">
                  <a:alpha val="0"/>
                </a:srgbClr>
              </a:gs>
              <a:gs pos="50000">
                <a:srgbClr val="0052FF">
                  <a:alpha val="100000"/>
                </a:srgbClr>
              </a:gs>
              <a:gs pos="100000">
                <a:srgbClr val="0052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2501900"/>
            <a:ext cx="1016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智慧通项目汇报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33909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12700" cap="flat" cmpd="sng">
            <a:solidFill>
              <a:srgbClr val="004A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937000" y="4419600"/>
            <a:ext cx="4318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064000" y="4521200"/>
            <a:ext cx="406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汇报人：刘铭 | 日期：2026年3月23日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52FF">
                  <a:alpha val="0"/>
                </a:srgbClr>
              </a:gs>
              <a:gs pos="50000">
                <a:srgbClr val="0052FF">
                  <a:alpha val="100000"/>
                </a:srgbClr>
              </a:gs>
              <a:gs pos="100000">
                <a:srgbClr val="0052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409700" y="1231900"/>
            <a:ext cx="406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552700" y="2171700"/>
            <a:ext cx="2667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2FF">
                <a:alpha val="1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2679700" y="2324100"/>
            <a:ext cx="508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251200" y="2349500"/>
            <a:ext cx="190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项目定位与核心价值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552700" y="3187700"/>
            <a:ext cx="2667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2FF">
                <a:alpha val="1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2679700" y="3340100"/>
            <a:ext cx="508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251200" y="3365500"/>
            <a:ext cx="190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用户痛点与应用场景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552700" y="4203700"/>
            <a:ext cx="2667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2FF">
                <a:alpha val="1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679700" y="4356100"/>
            <a:ext cx="508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251200" y="4381500"/>
            <a:ext cx="190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全流程解决方案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75400" y="2171700"/>
            <a:ext cx="2667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2FF">
                <a:alpha val="1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40500" y="2324100"/>
            <a:ext cx="508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12000" y="2349500"/>
            <a:ext cx="190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四大核心功能详解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3187700"/>
            <a:ext cx="2667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2FF">
                <a:alpha val="1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40500" y="3340100"/>
            <a:ext cx="508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3365500"/>
            <a:ext cx="190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落地成效与商业验证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4203700"/>
            <a:ext cx="2667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2FF">
                <a:alpha val="1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540500" y="4356100"/>
            <a:ext cx="508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0" y="4381500"/>
            <a:ext cx="1905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结语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0259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项目定位与核心价值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11300"/>
            <a:ext cx="10668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会议普遍面临决策效率低下的核心痛点，其根源在于人工记录耗时耗力、信息传递易产生偏差、会后任务难以跟踪闭环。这些问题在高层战略会议和部门周例会等关键场景中尤为突出，严重影响了会议的产出质量与执行效率，亟需智能化解决方案进行系统性优化。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4372610" y="2344420"/>
            <a:ext cx="7051675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6610" y="27559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5198110" y="2514600"/>
            <a:ext cx="9144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降本 · 大幅节省会议成本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5198110" y="2921000"/>
            <a:ext cx="914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节省80%的会议记录人力与速记成本，企业年省超10万元开支。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4372610" y="3656330"/>
            <a:ext cx="7051675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6610" y="40894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5198110" y="3848100"/>
            <a:ext cx="9144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提效 · 全流程效率跃升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5198110" y="4254500"/>
            <a:ext cx="914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会议全流程效率提升60%，会后仅需5分钟即可生成标准化成果。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372610" y="5054600"/>
            <a:ext cx="7051675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26610" y="54229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5198110" y="5181600"/>
            <a:ext cx="9144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提质 · 助力精准决策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5198110" y="5588000"/>
            <a:ext cx="914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记录准确率达95%，决策偏差降低90%，为企业战略落地提供可靠依据。</a:t>
            </a:r>
            <a:endParaRPr lang="en-US" sz="1100"/>
          </a:p>
        </p:txBody>
      </p:sp>
      <p:grpSp>
        <p:nvGrpSpPr>
          <p:cNvPr id="16" name="ísḷiḑé"/>
          <p:cNvGrpSpPr/>
          <p:nvPr>
            <p:custDataLst>
              <p:tags r:id="rId19"/>
            </p:custDataLst>
          </p:nvPr>
        </p:nvGrpSpPr>
        <p:grpSpPr>
          <a:xfrm>
            <a:off x="2949575" y="2631440"/>
            <a:ext cx="1195070" cy="492760"/>
            <a:chOff x="6493066" y="1524982"/>
            <a:chExt cx="2447208" cy="96822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7" name="íṩlídê"/>
            <p:cNvSpPr/>
            <p:nvPr>
              <p:custDataLst>
                <p:tags r:id="rId20"/>
              </p:custDataLst>
            </p:nvPr>
          </p:nvSpPr>
          <p:spPr bwMode="auto">
            <a:xfrm>
              <a:off x="6493066" y="1524982"/>
              <a:ext cx="2447208" cy="968220"/>
            </a:xfrm>
            <a:custGeom>
              <a:avLst/>
              <a:gdLst>
                <a:gd name="T0" fmla="*/ 6285 w 7206"/>
                <a:gd name="T1" fmla="*/ 2851 h 2851"/>
                <a:gd name="T2" fmla="*/ 0 w 7206"/>
                <a:gd name="T3" fmla="*/ 2851 h 2851"/>
                <a:gd name="T4" fmla="*/ 0 w 7206"/>
                <a:gd name="T5" fmla="*/ 0 h 2851"/>
                <a:gd name="T6" fmla="*/ 6285 w 7206"/>
                <a:gd name="T7" fmla="*/ 0 h 2851"/>
                <a:gd name="T8" fmla="*/ 7206 w 7206"/>
                <a:gd name="T9" fmla="*/ 1426 h 2851"/>
                <a:gd name="T10" fmla="*/ 6285 w 7206"/>
                <a:gd name="T11" fmla="*/ 2851 h 2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06" h="2851">
                  <a:moveTo>
                    <a:pt x="6285" y="2851"/>
                  </a:moveTo>
                  <a:lnTo>
                    <a:pt x="0" y="2851"/>
                  </a:lnTo>
                  <a:lnTo>
                    <a:pt x="0" y="0"/>
                  </a:lnTo>
                  <a:lnTo>
                    <a:pt x="6285" y="0"/>
                  </a:lnTo>
                  <a:lnTo>
                    <a:pt x="7206" y="1426"/>
                  </a:lnTo>
                  <a:lnTo>
                    <a:pt x="6285" y="285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b="1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FillTx/>
                <a:latin typeface="+mn-ea"/>
                <a:sym typeface="Calibri" panose="020F0502020204030204"/>
              </a:endParaRPr>
            </a:p>
          </p:txBody>
        </p:sp>
        <p:sp>
          <p:nvSpPr>
            <p:cNvPr id="18" name="iśḷiḑê"/>
            <p:cNvSpPr/>
            <p:nvPr/>
          </p:nvSpPr>
          <p:spPr bwMode="auto">
            <a:xfrm>
              <a:off x="6493066" y="1524982"/>
              <a:ext cx="510541" cy="968220"/>
            </a:xfrm>
            <a:custGeom>
              <a:avLst/>
              <a:gdLst>
                <a:gd name="connsiteX0" fmla="*/ 0 w 510541"/>
                <a:gd name="connsiteY0" fmla="*/ 0 h 968220"/>
                <a:gd name="connsiteX1" fmla="*/ 197763 w 510541"/>
                <a:gd name="connsiteY1" fmla="*/ 0 h 968220"/>
                <a:gd name="connsiteX2" fmla="*/ 510541 w 510541"/>
                <a:gd name="connsiteY2" fmla="*/ 484280 h 968220"/>
                <a:gd name="connsiteX3" fmla="*/ 197763 w 510541"/>
                <a:gd name="connsiteY3" fmla="*/ 968220 h 968220"/>
                <a:gd name="connsiteX4" fmla="*/ 0 w 510541"/>
                <a:gd name="connsiteY4" fmla="*/ 968220 h 968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541" h="968220">
                  <a:moveTo>
                    <a:pt x="0" y="0"/>
                  </a:moveTo>
                  <a:lnTo>
                    <a:pt x="197763" y="0"/>
                  </a:lnTo>
                  <a:lnTo>
                    <a:pt x="510541" y="484280"/>
                  </a:lnTo>
                  <a:lnTo>
                    <a:pt x="197763" y="968220"/>
                  </a:lnTo>
                  <a:lnTo>
                    <a:pt x="0" y="96822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</a:bodyPr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2400" b="1" ker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FillTx/>
                <a:latin typeface="+mn-ea"/>
                <a:sym typeface="Calibri" panose="020F0502020204030204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21"/>
            </p:custDataLst>
          </p:nvPr>
        </p:nvGrpSpPr>
        <p:grpSpPr>
          <a:xfrm>
            <a:off x="2949575" y="3975100"/>
            <a:ext cx="1195070" cy="492760"/>
            <a:chOff x="3160440" y="3731835"/>
            <a:chExt cx="2569568" cy="872122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" name="iŝḻïḍe"/>
            <p:cNvSpPr/>
            <p:nvPr>
              <p:custDataLst>
                <p:tags r:id="rId22"/>
              </p:custDataLst>
            </p:nvPr>
          </p:nvSpPr>
          <p:spPr bwMode="auto">
            <a:xfrm>
              <a:off x="3160440" y="3731835"/>
              <a:ext cx="2569568" cy="872122"/>
            </a:xfrm>
            <a:custGeom>
              <a:avLst/>
              <a:gdLst>
                <a:gd name="T0" fmla="*/ 6285 w 7206"/>
                <a:gd name="T1" fmla="*/ 2851 h 2851"/>
                <a:gd name="T2" fmla="*/ 0 w 7206"/>
                <a:gd name="T3" fmla="*/ 2851 h 2851"/>
                <a:gd name="T4" fmla="*/ 0 w 7206"/>
                <a:gd name="T5" fmla="*/ 0 h 2851"/>
                <a:gd name="T6" fmla="*/ 6285 w 7206"/>
                <a:gd name="T7" fmla="*/ 0 h 2851"/>
                <a:gd name="T8" fmla="*/ 7206 w 7206"/>
                <a:gd name="T9" fmla="*/ 1426 h 2851"/>
                <a:gd name="T10" fmla="*/ 6285 w 7206"/>
                <a:gd name="T11" fmla="*/ 2851 h 2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06" h="2851">
                  <a:moveTo>
                    <a:pt x="6285" y="2851"/>
                  </a:moveTo>
                  <a:lnTo>
                    <a:pt x="0" y="2851"/>
                  </a:lnTo>
                  <a:lnTo>
                    <a:pt x="0" y="0"/>
                  </a:lnTo>
                  <a:lnTo>
                    <a:pt x="6285" y="0"/>
                  </a:lnTo>
                  <a:lnTo>
                    <a:pt x="7206" y="1426"/>
                  </a:lnTo>
                  <a:lnTo>
                    <a:pt x="6285" y="285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lIns="113400" tIns="113400" rIns="113400" bIns="113400" rtlCol="0" anchor="ctr" anchorCtr="0">
              <a:noAutofit/>
            </a:bodyPr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b="1" kern="0" dirty="0">
                <a:solidFill>
                  <a:schemeClr val="lt1"/>
                </a:solidFill>
                <a:uFillTx/>
                <a:latin typeface="+mn-ea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21" name="íṩḻîďé"/>
            <p:cNvSpPr/>
            <p:nvPr/>
          </p:nvSpPr>
          <p:spPr bwMode="auto">
            <a:xfrm>
              <a:off x="3160440" y="3731835"/>
              <a:ext cx="536068" cy="872122"/>
            </a:xfrm>
            <a:custGeom>
              <a:avLst/>
              <a:gdLst>
                <a:gd name="connsiteX0" fmla="*/ 0 w 510541"/>
                <a:gd name="connsiteY0" fmla="*/ 0 h 968220"/>
                <a:gd name="connsiteX1" fmla="*/ 197763 w 510541"/>
                <a:gd name="connsiteY1" fmla="*/ 0 h 968220"/>
                <a:gd name="connsiteX2" fmla="*/ 510541 w 510541"/>
                <a:gd name="connsiteY2" fmla="*/ 484280 h 968220"/>
                <a:gd name="connsiteX3" fmla="*/ 197763 w 510541"/>
                <a:gd name="connsiteY3" fmla="*/ 968220 h 968220"/>
                <a:gd name="connsiteX4" fmla="*/ 0 w 510541"/>
                <a:gd name="connsiteY4" fmla="*/ 968220 h 968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541" h="968220">
                  <a:moveTo>
                    <a:pt x="0" y="0"/>
                  </a:moveTo>
                  <a:lnTo>
                    <a:pt x="197763" y="0"/>
                  </a:lnTo>
                  <a:lnTo>
                    <a:pt x="510541" y="484280"/>
                  </a:lnTo>
                  <a:lnTo>
                    <a:pt x="197763" y="968220"/>
                  </a:lnTo>
                  <a:lnTo>
                    <a:pt x="0" y="96822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2400" b="1" kern="0">
                <a:solidFill>
                  <a:schemeClr val="lt1"/>
                </a:solidFill>
                <a:uFillTx/>
                <a:latin typeface="+mn-ea"/>
                <a:sym typeface="Calibri" panose="020F0502020204030204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23"/>
            </p:custDataLst>
          </p:nvPr>
        </p:nvGrpSpPr>
        <p:grpSpPr>
          <a:xfrm>
            <a:off x="2949575" y="5384800"/>
            <a:ext cx="1195070" cy="492760"/>
            <a:chOff x="3160440" y="5022674"/>
            <a:chExt cx="2569568" cy="872122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" name="íṩlídê"/>
            <p:cNvSpPr/>
            <p:nvPr>
              <p:custDataLst>
                <p:tags r:id="rId24"/>
              </p:custDataLst>
            </p:nvPr>
          </p:nvSpPr>
          <p:spPr bwMode="auto">
            <a:xfrm>
              <a:off x="3160440" y="5022674"/>
              <a:ext cx="2569568" cy="872122"/>
            </a:xfrm>
            <a:custGeom>
              <a:avLst/>
              <a:gdLst>
                <a:gd name="T0" fmla="*/ 6285 w 7206"/>
                <a:gd name="T1" fmla="*/ 2851 h 2851"/>
                <a:gd name="T2" fmla="*/ 0 w 7206"/>
                <a:gd name="T3" fmla="*/ 2851 h 2851"/>
                <a:gd name="T4" fmla="*/ 0 w 7206"/>
                <a:gd name="T5" fmla="*/ 0 h 2851"/>
                <a:gd name="T6" fmla="*/ 6285 w 7206"/>
                <a:gd name="T7" fmla="*/ 0 h 2851"/>
                <a:gd name="T8" fmla="*/ 7206 w 7206"/>
                <a:gd name="T9" fmla="*/ 1426 h 2851"/>
                <a:gd name="T10" fmla="*/ 6285 w 7206"/>
                <a:gd name="T11" fmla="*/ 2851 h 2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06" h="2851">
                  <a:moveTo>
                    <a:pt x="6285" y="2851"/>
                  </a:moveTo>
                  <a:lnTo>
                    <a:pt x="0" y="2851"/>
                  </a:lnTo>
                  <a:lnTo>
                    <a:pt x="0" y="0"/>
                  </a:lnTo>
                  <a:lnTo>
                    <a:pt x="6285" y="0"/>
                  </a:lnTo>
                  <a:lnTo>
                    <a:pt x="7206" y="1426"/>
                  </a:lnTo>
                  <a:lnTo>
                    <a:pt x="6285" y="285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lIns="113400" tIns="113400" rIns="113400" bIns="113400" rtlCol="0" anchor="ctr" anchorCtr="0">
              <a:noAutofit/>
            </a:bodyPr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kumimoji="1" lang="zh-CN" altLang="en-US" b="1" kern="0" dirty="0">
                <a:solidFill>
                  <a:srgbClr val="FFFFFF"/>
                </a:solidFill>
                <a:uFillTx/>
                <a:latin typeface="+mn-ea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24" name="iśḷiḑê"/>
            <p:cNvSpPr/>
            <p:nvPr/>
          </p:nvSpPr>
          <p:spPr bwMode="auto">
            <a:xfrm>
              <a:off x="3160440" y="5022674"/>
              <a:ext cx="536068" cy="872122"/>
            </a:xfrm>
            <a:custGeom>
              <a:avLst/>
              <a:gdLst>
                <a:gd name="connsiteX0" fmla="*/ 0 w 510541"/>
                <a:gd name="connsiteY0" fmla="*/ 0 h 968220"/>
                <a:gd name="connsiteX1" fmla="*/ 197763 w 510541"/>
                <a:gd name="connsiteY1" fmla="*/ 0 h 968220"/>
                <a:gd name="connsiteX2" fmla="*/ 510541 w 510541"/>
                <a:gd name="connsiteY2" fmla="*/ 484280 h 968220"/>
                <a:gd name="connsiteX3" fmla="*/ 197763 w 510541"/>
                <a:gd name="connsiteY3" fmla="*/ 968220 h 968220"/>
                <a:gd name="connsiteX4" fmla="*/ 0 w 510541"/>
                <a:gd name="connsiteY4" fmla="*/ 968220 h 968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541" h="968220">
                  <a:moveTo>
                    <a:pt x="0" y="0"/>
                  </a:moveTo>
                  <a:lnTo>
                    <a:pt x="197763" y="0"/>
                  </a:lnTo>
                  <a:lnTo>
                    <a:pt x="510541" y="484280"/>
                  </a:lnTo>
                  <a:lnTo>
                    <a:pt x="197763" y="968220"/>
                  </a:lnTo>
                  <a:lnTo>
                    <a:pt x="0" y="96822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2400" b="1" kern="0">
                <a:solidFill>
                  <a:schemeClr val="lt1"/>
                </a:solidFill>
                <a:uFillTx/>
                <a:latin typeface="+mn-ea"/>
                <a:sym typeface="Calibri" panose="020F0502020204030204"/>
              </a:endParaRPr>
            </a:p>
          </p:txBody>
        </p:sp>
      </p:grpSp>
      <p:grpSp>
        <p:nvGrpSpPr>
          <p:cNvPr id="25" name="ïṧḻíḍè"/>
          <p:cNvGrpSpPr/>
          <p:nvPr/>
        </p:nvGrpSpPr>
        <p:grpSpPr>
          <a:xfrm>
            <a:off x="1502410" y="2750185"/>
            <a:ext cx="1419860" cy="213360"/>
            <a:chOff x="4360179" y="1789982"/>
            <a:chExt cx="1987648" cy="358401"/>
          </a:xfrm>
          <a:solidFill>
            <a:schemeClr val="accent1">
              <a:lumMod val="20000"/>
              <a:lumOff val="80000"/>
            </a:schemeClr>
          </a:solidFill>
        </p:grpSpPr>
        <p:grpSp>
          <p:nvGrpSpPr>
            <p:cNvPr id="26" name="iş1iḓê"/>
            <p:cNvGrpSpPr/>
            <p:nvPr/>
          </p:nvGrpSpPr>
          <p:grpSpPr>
            <a:xfrm flipV="1">
              <a:off x="4360179" y="1789982"/>
              <a:ext cx="358401" cy="358401"/>
              <a:chOff x="474220" y="1079166"/>
              <a:chExt cx="5621780" cy="5621780"/>
            </a:xfrm>
            <a:grpFill/>
          </p:grpSpPr>
          <p:sp>
            <p:nvSpPr>
              <p:cNvPr id="27" name="îśľidé"/>
              <p:cNvSpPr/>
              <p:nvPr/>
            </p:nvSpPr>
            <p:spPr>
              <a:xfrm>
                <a:off x="474220" y="1079166"/>
                <a:ext cx="5621780" cy="5621780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2">
                <a:schemeClr val="accent3"/>
              </a:fillRef>
              <a:effectRef idx="0">
                <a:srgbClr val="FFFFFF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28" name="íšḻiḋe"/>
              <p:cNvSpPr/>
              <p:nvPr/>
            </p:nvSpPr>
            <p:spPr>
              <a:xfrm>
                <a:off x="1916605" y="2521552"/>
                <a:ext cx="2737009" cy="2737009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2">
                <a:schemeClr val="accent3"/>
              </a:fillRef>
              <a:effectRef idx="0">
                <a:srgbClr val="FFFFFF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kern="0">
                  <a:uFillTx/>
                  <a:sym typeface="Calibri" panose="020F0502020204030204"/>
                </a:endParaRPr>
              </a:p>
            </p:txBody>
          </p:sp>
        </p:grpSp>
        <p:cxnSp>
          <p:nvCxnSpPr>
            <p:cNvPr id="29" name="ïs1ïḍê"/>
            <p:cNvCxnSpPr>
              <a:stCxn id="27" idx="6"/>
            </p:cNvCxnSpPr>
            <p:nvPr/>
          </p:nvCxnSpPr>
          <p:spPr>
            <a:xfrm flipV="1">
              <a:off x="4718580" y="1968557"/>
              <a:ext cx="1629247" cy="625"/>
            </a:xfrm>
            <a:prstGeom prst="line">
              <a:avLst/>
            </a:prstGeom>
          </p:spPr>
          <p:style>
            <a:lnRef idx="2">
              <a:schemeClr val="accent3"/>
            </a:lnRef>
            <a:fillRef idx="2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</p:cxnSp>
      </p:grpSp>
      <p:grpSp>
        <p:nvGrpSpPr>
          <p:cNvPr id="30" name="îsḻîḑè"/>
          <p:cNvGrpSpPr/>
          <p:nvPr/>
        </p:nvGrpSpPr>
        <p:grpSpPr>
          <a:xfrm>
            <a:off x="1449070" y="5551170"/>
            <a:ext cx="1500505" cy="213360"/>
            <a:chOff x="4360179" y="1789982"/>
            <a:chExt cx="1987648" cy="358401"/>
          </a:xfrm>
          <a:solidFill>
            <a:schemeClr val="accent1">
              <a:lumMod val="20000"/>
              <a:lumOff val="80000"/>
            </a:schemeClr>
          </a:solidFill>
        </p:grpSpPr>
        <p:grpSp>
          <p:nvGrpSpPr>
            <p:cNvPr id="40" name="íŝlïḍè"/>
            <p:cNvGrpSpPr/>
            <p:nvPr/>
          </p:nvGrpSpPr>
          <p:grpSpPr>
            <a:xfrm flipV="1">
              <a:off x="4360179" y="1789982"/>
              <a:ext cx="358401" cy="358401"/>
              <a:chOff x="474220" y="1079166"/>
              <a:chExt cx="5621780" cy="5621780"/>
            </a:xfrm>
            <a:grpFill/>
          </p:grpSpPr>
          <p:sp>
            <p:nvSpPr>
              <p:cNvPr id="58" name="ïśľiḋê"/>
              <p:cNvSpPr/>
              <p:nvPr/>
            </p:nvSpPr>
            <p:spPr>
              <a:xfrm>
                <a:off x="474220" y="1079166"/>
                <a:ext cx="5621780" cy="5621780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2">
                <a:schemeClr val="accent3"/>
              </a:fillRef>
              <a:effectRef idx="0">
                <a:srgbClr val="FFFFFF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59" name="íśľïdé"/>
              <p:cNvSpPr/>
              <p:nvPr/>
            </p:nvSpPr>
            <p:spPr>
              <a:xfrm>
                <a:off x="1916605" y="2521552"/>
                <a:ext cx="2737009" cy="2737009"/>
              </a:xfrm>
              <a:prstGeom prst="ellipse">
                <a:avLst/>
              </a:prstGeom>
            </p:spPr>
            <p:style>
              <a:lnRef idx="2">
                <a:schemeClr val="accent3"/>
              </a:lnRef>
              <a:fillRef idx="2">
                <a:schemeClr val="accent3"/>
              </a:fillRef>
              <a:effectRef idx="0">
                <a:srgbClr val="FFFFFF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kern="0">
                  <a:uFillTx/>
                  <a:sym typeface="Calibri" panose="020F0502020204030204"/>
                </a:endParaRPr>
              </a:p>
            </p:txBody>
          </p:sp>
        </p:grpSp>
        <p:cxnSp>
          <p:nvCxnSpPr>
            <p:cNvPr id="41" name="íṡliḋê"/>
            <p:cNvCxnSpPr>
              <a:stCxn id="58" idx="6"/>
            </p:cNvCxnSpPr>
            <p:nvPr/>
          </p:nvCxnSpPr>
          <p:spPr>
            <a:xfrm flipV="1">
              <a:off x="4718580" y="1968557"/>
              <a:ext cx="1629247" cy="625"/>
            </a:xfrm>
            <a:prstGeom prst="line">
              <a:avLst/>
            </a:prstGeom>
          </p:spPr>
          <p:style>
            <a:lnRef idx="2">
              <a:schemeClr val="accent3"/>
            </a:lnRef>
            <a:fillRef idx="2">
              <a:schemeClr val="accent3"/>
            </a:fillRef>
            <a:effectRef idx="0">
              <a:srgbClr val="FFFFFF"/>
            </a:effectRef>
            <a:fontRef idx="minor">
              <a:schemeClr val="dk1"/>
            </a:fontRef>
          </p:style>
        </p:cxnSp>
      </p:grpSp>
      <p:grpSp>
        <p:nvGrpSpPr>
          <p:cNvPr id="60" name="íş1îdé"/>
          <p:cNvGrpSpPr/>
          <p:nvPr/>
        </p:nvGrpSpPr>
        <p:grpSpPr>
          <a:xfrm>
            <a:off x="2036445" y="4133850"/>
            <a:ext cx="870585" cy="213360"/>
            <a:chOff x="4360179" y="1789982"/>
            <a:chExt cx="2305245" cy="358401"/>
          </a:xfrm>
          <a:solidFill>
            <a:schemeClr val="accent1">
              <a:lumMod val="20000"/>
              <a:lumOff val="80000"/>
            </a:schemeClr>
          </a:solidFill>
        </p:grpSpPr>
        <p:cxnSp>
          <p:nvCxnSpPr>
            <p:cNvPr id="61" name="ïṩḻiḍè"/>
            <p:cNvCxnSpPr>
              <a:stCxn id="63" idx="6"/>
            </p:cNvCxnSpPr>
            <p:nvPr/>
          </p:nvCxnSpPr>
          <p:spPr>
            <a:xfrm flipV="1">
              <a:off x="4718580" y="1961715"/>
              <a:ext cx="1946844" cy="7467"/>
            </a:xfrm>
            <a:prstGeom prst="line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cxnSp>
        <p:grpSp>
          <p:nvGrpSpPr>
            <p:cNvPr id="62" name="îṧ1iḋe"/>
            <p:cNvGrpSpPr/>
            <p:nvPr/>
          </p:nvGrpSpPr>
          <p:grpSpPr>
            <a:xfrm flipV="1">
              <a:off x="4360179" y="1789982"/>
              <a:ext cx="358401" cy="358401"/>
              <a:chOff x="474220" y="1079166"/>
              <a:chExt cx="5621780" cy="5621780"/>
            </a:xfrm>
            <a:grpFill/>
          </p:grpSpPr>
          <p:sp>
            <p:nvSpPr>
              <p:cNvPr id="63" name="iśľiḋé"/>
              <p:cNvSpPr/>
              <p:nvPr/>
            </p:nvSpPr>
            <p:spPr>
              <a:xfrm>
                <a:off x="474220" y="1079166"/>
                <a:ext cx="5621780" cy="5621780"/>
              </a:xfrm>
              <a:prstGeom prst="ellipse">
                <a:avLst/>
              </a:prstGeom>
            </p:spPr>
            <p:style>
              <a:lnRef idx="2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64" name="iṡ1iḓé"/>
              <p:cNvSpPr/>
              <p:nvPr/>
            </p:nvSpPr>
            <p:spPr>
              <a:xfrm>
                <a:off x="1916605" y="2521552"/>
                <a:ext cx="2737009" cy="2737009"/>
              </a:xfrm>
              <a:prstGeom prst="ellipse">
                <a:avLst/>
              </a:prstGeom>
            </p:spPr>
            <p:style>
              <a:lnRef idx="2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kern="0">
                  <a:uFillTx/>
                  <a:sym typeface="Calibri" panose="020F0502020204030204"/>
                </a:endParaRPr>
              </a:p>
            </p:txBody>
          </p:sp>
        </p:grpSp>
      </p:grpSp>
      <p:sp>
        <p:nvSpPr>
          <p:cNvPr id="65" name="í$ļíḍe"/>
          <p:cNvSpPr/>
          <p:nvPr/>
        </p:nvSpPr>
        <p:spPr>
          <a:xfrm>
            <a:off x="989965" y="3803015"/>
            <a:ext cx="363220" cy="958215"/>
          </a:xfrm>
          <a:prstGeom prst="rect">
            <a:avLst/>
          </a:prstGeom>
          <a:ln w="9525" cap="flat" cmpd="sng" algn="ctr">
            <a:noFill/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108000" tIns="108000" rIns="108000" bIns="108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sym typeface="Calibri" panose="020F0502020204030204"/>
              </a:rPr>
              <a:t>目标方向</a:t>
            </a:r>
            <a:endParaRPr kumimoji="1" lang="zh-CN" altLang="en-US" sz="2400" b="1" dirty="0">
              <a:solidFill>
                <a:schemeClr val="tx1">
                  <a:lumMod val="50000"/>
                  <a:lumOff val="50000"/>
                </a:schemeClr>
              </a:solidFill>
              <a:uFillTx/>
              <a:latin typeface="+mn-ea"/>
              <a:sym typeface="Calibri" panose="020F0502020204030204"/>
            </a:endParaRPr>
          </a:p>
        </p:txBody>
      </p:sp>
      <p:sp>
        <p:nvSpPr>
          <p:cNvPr id="66" name="i$ḷïḓê"/>
          <p:cNvSpPr/>
          <p:nvPr/>
        </p:nvSpPr>
        <p:spPr>
          <a:xfrm>
            <a:off x="-3006873" y="1790633"/>
            <a:ext cx="5067617" cy="5067617"/>
          </a:xfrm>
          <a:prstGeom prst="arc">
            <a:avLst>
              <a:gd name="adj1" fmla="val 19626591"/>
              <a:gd name="adj2" fmla="val 2014698"/>
            </a:avLst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54405" hangingPunct="0">
              <a:spcBef>
                <a:spcPts val="0"/>
              </a:spcBef>
              <a:spcAft>
                <a:spcPts val="0"/>
              </a:spcAft>
            </a:pPr>
            <a:endParaRPr lang="zh-CN" altLang="en-US" kern="0" dirty="0">
              <a:uFillTx/>
              <a:sym typeface="Calibri" panose="020F0502020204030204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226435" y="272605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</a:t>
            </a:r>
            <a:r>
              <a:rPr lang="zh-CN" altLang="en-US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</a:t>
            </a:r>
            <a:endParaRPr lang="zh-CN" altLang="en-US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241675" y="407416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</a:t>
            </a:r>
            <a:r>
              <a:rPr lang="zh-CN" altLang="en-US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</a:t>
            </a:r>
            <a:endParaRPr lang="zh-CN" altLang="en-US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199130" y="549910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</a:t>
            </a:r>
            <a:r>
              <a:rPr lang="zh-CN" altLang="en-US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</a:t>
            </a:r>
            <a:endParaRPr lang="zh-CN" altLang="en-US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9550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智慧通·智能会议协同平台 应用价值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会议普遍面临决策效率低下的核心痛点，其根源在于人工记录耗时耗力、信息传递易产生偏差、会后任务难以跟踪闭环。这些问题在高层战略会议和部门周例会等关键场景中尤为突出，严重影响了会议的产出质量与执行效率，亟需智能化解决方案进行系统性优化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540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4892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核心优化方向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4572000" cy="1143000"/>
          </a:xfrm>
          <a:prstGeom prst="roundRect">
            <a:avLst>
              <a:gd name="adj" fmla="val 11111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06500" y="3175000"/>
            <a:ext cx="4191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核心价值：数字化升级与提效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06500" y="35560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通过AI赋能与全流程优化，实现会议管理从传统人工向智能化、自动化的跨越，全面提升组织效能。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318000"/>
            <a:ext cx="4572000" cy="1651000"/>
          </a:xfrm>
          <a:prstGeom prst="roundRect">
            <a:avLst>
              <a:gd name="adj" fmla="val 7692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43000" y="4521200"/>
            <a:ext cx="4191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关键举措：三大维度赋能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143000" y="4826000"/>
            <a:ext cx="4191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08000"/>
              </a:lnSpc>
              <a:buClr>
                <a:srgbClr val="555555"/>
              </a:buClr>
              <a:buChar char="•"/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流程赋能：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减少人工重复操作，提升流转效率</a:t>
            </a:r>
            <a:endParaRPr lang="en-US" sz="1100"/>
          </a:p>
          <a:p>
            <a:pPr marL="165100" indent="-165100" algn="l">
              <a:lnSpc>
                <a:spcPct val="108000"/>
              </a:lnSpc>
              <a:buClr>
                <a:srgbClr val="555555"/>
              </a:buClr>
              <a:buChar char="•"/>
            </a:pP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知识沉淀：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会议内容结构化，实现资产高效复用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08000"/>
              </a:lnSpc>
              <a:buClr>
                <a:srgbClr val="555555"/>
              </a:buClr>
              <a:buChar char="•"/>
            </a:pP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安全协同：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全链路管控，保障数据合规与闭环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2286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540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2489200"/>
            <a:ext cx="381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核心应用场景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3048000"/>
            <a:ext cx="4572000" cy="1206500"/>
          </a:xfrm>
          <a:prstGeom prst="roundRect">
            <a:avLst>
              <a:gd name="adj" fmla="val 10526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4500" y="3238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75500" y="3200400"/>
            <a:ext cx="381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场景一：内部业务与协作会议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794500" y="36195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涵盖内部业务沟通、项目评审及部门协同，通过智能化手段提升沟通效率，快速对齐业务目标。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0" y="4381500"/>
            <a:ext cx="4572000" cy="1206500"/>
          </a:xfrm>
          <a:prstGeom prst="roundRect">
            <a:avLst>
              <a:gd name="adj" fmla="val 10526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4500" y="4572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75500" y="4533900"/>
            <a:ext cx="381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场景二：跨部门与决策复盘会议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794500" y="4953000"/>
            <a:ext cx="4191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支持跨部门远程会议、专题研讨及决策复盘，确保信息准确传递，促进科学决策与执行闭环。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381000"/>
            <a:ext cx="40259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通提供从会议创建到知识沉淀的全流程闭环解决方案。通过实时语音转写、AI智能分析、结构化成果生成、任务分配与跟踪，以及最终的知识沉淀，将会从一个耗时的活动转变为高效的决策与知识管理过程，系统性地解决了传统会议的痛点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816100" y="1905000"/>
            <a:ext cx="1651000" cy="1778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52FF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52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387600" y="2095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879600" y="2667000"/>
            <a:ext cx="152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创建会议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879600" y="2984500"/>
            <a:ext cx="152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发起会议，设置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参会人员与议程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76500" y="2667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3848100" y="1905000"/>
            <a:ext cx="1651000" cy="1778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52FF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52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19600" y="2095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3911600" y="2667000"/>
            <a:ext cx="152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实时转写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911600" y="2984500"/>
            <a:ext cx="152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语音实时转写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自动识别人声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08500" y="2667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5880100" y="1905000"/>
            <a:ext cx="1651000" cy="1778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52FF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52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51600" y="2095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5943600" y="2667000"/>
            <a:ext cx="152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AI分析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943600" y="2984500"/>
            <a:ext cx="152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提取要点决策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识别待办任务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40500" y="2667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7912100" y="1905000"/>
            <a:ext cx="1651000" cy="1778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52FF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52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483600" y="2095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7975600" y="2667000"/>
            <a:ext cx="152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成果生成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975600" y="2984500"/>
            <a:ext cx="152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自动生成纪要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输出任务清单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832100" y="3937000"/>
            <a:ext cx="1651000" cy="1778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52FF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52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403600" y="4127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2895600" y="4699000"/>
            <a:ext cx="152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任务分配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895600" y="5016500"/>
            <a:ext cx="152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分配相关人员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设置截止日期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92500" y="4699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4864100" y="3937000"/>
            <a:ext cx="1651000" cy="1778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52FF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52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435600" y="4127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1" name="AutoShape 31"/>
          <p:cNvSpPr/>
          <p:nvPr/>
        </p:nvSpPr>
        <p:spPr>
          <a:xfrm>
            <a:off x="4927600" y="4699000"/>
            <a:ext cx="152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跟踪闭环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927600" y="5016500"/>
            <a:ext cx="152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实时跟踪进度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确保事项落地</a:t>
            </a:r>
            <a:endParaRPr lang="en-US" sz="1100"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24500" y="4699000"/>
            <a:ext cx="254000" cy="25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4" name="AutoShape 34"/>
          <p:cNvSpPr/>
          <p:nvPr/>
        </p:nvSpPr>
        <p:spPr>
          <a:xfrm>
            <a:off x="6896100" y="3937000"/>
            <a:ext cx="1651000" cy="1778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52FF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52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467600" y="4127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6" name="AutoShape 36"/>
          <p:cNvSpPr/>
          <p:nvPr/>
        </p:nvSpPr>
        <p:spPr>
          <a:xfrm>
            <a:off x="6959600" y="4699000"/>
            <a:ext cx="1524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知识沉淀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959600" y="5016500"/>
            <a:ext cx="152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存入知识库</a:t>
            </a:r>
            <a:b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便于检索复用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50000"/>
            </a:avLst>
          </a:prstGeom>
          <a:solidFill>
            <a:srgbClr val="0052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构建从会议发起、智能处理到成果落地的完整闭环，实现会议价值最大化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28" name="组合 27"/>
          <p:cNvGrpSpPr/>
          <p:nvPr/>
        </p:nvGrpSpPr>
        <p:grpSpPr>
          <a:xfrm rot="18960000">
            <a:off x="4415380" y="2142676"/>
            <a:ext cx="3600000" cy="3600000"/>
            <a:chOff x="7246" y="3965"/>
            <a:chExt cx="5669" cy="5669"/>
          </a:xfrm>
        </p:grpSpPr>
        <p:sp>
          <p:nvSpPr>
            <p:cNvPr id="29" name="椭圆 28"/>
            <p:cNvSpPr/>
            <p:nvPr>
              <p:custDataLst>
                <p:tags r:id="rId2"/>
              </p:custDataLst>
            </p:nvPr>
          </p:nvSpPr>
          <p:spPr>
            <a:xfrm rot="10800000">
              <a:off x="9033" y="7231"/>
              <a:ext cx="2179" cy="2179"/>
            </a:xfrm>
            <a:prstGeom prst="ellipse">
              <a:avLst/>
            </a:prstGeom>
            <a:solidFill>
              <a:srgbClr val="E5F7FD"/>
            </a:solidFill>
            <a:ln>
              <a:gradFill>
                <a:gsLst>
                  <a:gs pos="0">
                    <a:srgbClr val="07ACE9"/>
                  </a:gs>
                  <a:gs pos="100000">
                    <a:schemeClr val="bg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54405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endParaRPr lang="zh-CN" altLang="en-US" sz="1890" kern="0">
                <a:uFillTx/>
                <a:sym typeface="+mn-ea"/>
              </a:endParaRPr>
            </a:p>
          </p:txBody>
        </p:sp>
        <p:sp>
          <p:nvSpPr>
            <p:cNvPr id="30" name="椭圆 29"/>
            <p:cNvSpPr/>
            <p:nvPr>
              <p:custDataLst>
                <p:tags r:id="rId3"/>
              </p:custDataLst>
            </p:nvPr>
          </p:nvSpPr>
          <p:spPr>
            <a:xfrm>
              <a:off x="8953" y="4164"/>
              <a:ext cx="2179" cy="2179"/>
            </a:xfrm>
            <a:prstGeom prst="ellipse">
              <a:avLst/>
            </a:prstGeom>
            <a:solidFill>
              <a:srgbClr val="E5F7FD"/>
            </a:solidFill>
            <a:ln>
              <a:gradFill>
                <a:gsLst>
                  <a:gs pos="0">
                    <a:srgbClr val="07ACE9"/>
                  </a:gs>
                  <a:gs pos="100000">
                    <a:schemeClr val="bg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54405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endParaRPr lang="zh-CN" altLang="en-US" sz="1890" kern="0" dirty="0">
                <a:uFillTx/>
                <a:sym typeface="+mn-ea"/>
              </a:endParaRPr>
            </a:p>
          </p:txBody>
        </p:sp>
        <p:sp>
          <p:nvSpPr>
            <p:cNvPr id="31" name="椭圆 30"/>
            <p:cNvSpPr/>
            <p:nvPr>
              <p:custDataLst>
                <p:tags r:id="rId4"/>
              </p:custDataLst>
            </p:nvPr>
          </p:nvSpPr>
          <p:spPr>
            <a:xfrm rot="16200000">
              <a:off x="7459" y="5711"/>
              <a:ext cx="2179" cy="2179"/>
            </a:xfrm>
            <a:prstGeom prst="ellipse">
              <a:avLst/>
            </a:prstGeom>
            <a:solidFill>
              <a:srgbClr val="E5F7FD"/>
            </a:solidFill>
            <a:ln>
              <a:gradFill>
                <a:gsLst>
                  <a:gs pos="0">
                    <a:srgbClr val="07ACE9"/>
                  </a:gs>
                  <a:gs pos="100000">
                    <a:schemeClr val="bg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5"/>
              </p:custDataLst>
            </p:nvPr>
          </p:nvSpPr>
          <p:spPr>
            <a:xfrm rot="5400000">
              <a:off x="10527" y="5684"/>
              <a:ext cx="2179" cy="2179"/>
            </a:xfrm>
            <a:prstGeom prst="ellipse">
              <a:avLst/>
            </a:prstGeom>
            <a:solidFill>
              <a:srgbClr val="E5F7FD"/>
            </a:solidFill>
            <a:ln>
              <a:gradFill>
                <a:gsLst>
                  <a:gs pos="0">
                    <a:srgbClr val="07ACE9"/>
                  </a:gs>
                  <a:gs pos="100000">
                    <a:schemeClr val="bg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54405" hangingPunct="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endParaRPr lang="zh-CN" altLang="en-US" sz="1890" kern="0">
                <a:uFillTx/>
                <a:sym typeface="+mn-ea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9064" y="5806"/>
              <a:ext cx="1961" cy="1961"/>
              <a:chOff x="8416" y="3983"/>
              <a:chExt cx="2198" cy="2198"/>
            </a:xfrm>
          </p:grpSpPr>
          <p:sp>
            <p:nvSpPr>
              <p:cNvPr id="34" name="椭圆 33"/>
              <p:cNvSpPr/>
              <p:nvPr>
                <p:custDataLst>
                  <p:tags r:id="rId6"/>
                </p:custDataLst>
              </p:nvPr>
            </p:nvSpPr>
            <p:spPr>
              <a:xfrm>
                <a:off x="8416" y="3983"/>
                <a:ext cx="2198" cy="2198"/>
              </a:xfrm>
              <a:prstGeom prst="ellipse">
                <a:avLst/>
              </a:prstGeom>
              <a:gradFill>
                <a:gsLst>
                  <a:gs pos="0">
                    <a:srgbClr val="0887E8"/>
                  </a:gs>
                  <a:gs pos="100000">
                    <a:srgbClr val="07ACE9"/>
                  </a:gs>
                </a:gsLst>
                <a:lin ang="5400000" scaled="0"/>
              </a:gradFill>
              <a:ln>
                <a:solidFill>
                  <a:srgbClr val="FAFAF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470" b="1" kern="0" dirty="0"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FillTx/>
                  <a:latin typeface="微软雅黑" panose="020B0503020204020204" charset="-122"/>
                  <a:ea typeface="微软雅黑" panose="020B0503020204020204" charset="-122"/>
                  <a:sym typeface="Calibri" panose="020F0502020204030204"/>
                </a:endParaRPr>
              </a:p>
            </p:txBody>
          </p:sp>
          <p:sp>
            <p:nvSpPr>
              <p:cNvPr id="35" name="文本框 34"/>
              <p:cNvSpPr txBox="1"/>
              <p:nvPr>
                <p:custDataLst>
                  <p:tags r:id="rId7"/>
                </p:custDataLst>
              </p:nvPr>
            </p:nvSpPr>
            <p:spPr>
              <a:xfrm rot="2580000">
                <a:off x="8544" y="4761"/>
                <a:ext cx="1968" cy="6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80" b="1" kern="0" dirty="0">
                    <a:solidFill>
                      <a:schemeClr val="bg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uFillTx/>
                    <a:latin typeface="微软雅黑" panose="020B0503020204020204" charset="-122"/>
                    <a:ea typeface="微软雅黑" panose="020B0503020204020204" charset="-122"/>
                    <a:cs typeface="+mj-cs"/>
                    <a:sym typeface="Calibri" panose="020F0502020204030204"/>
                  </a:rPr>
                  <a:t>智慧</a:t>
                </a:r>
                <a:r>
                  <a:rPr lang="zh-CN" altLang="en-US" sz="1680" b="1" kern="0" dirty="0">
                    <a:solidFill>
                      <a:schemeClr val="bg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uFillTx/>
                    <a:latin typeface="微软雅黑" panose="020B0503020204020204" charset="-122"/>
                    <a:ea typeface="微软雅黑" panose="020B0503020204020204" charset="-122"/>
                    <a:cs typeface="+mj-cs"/>
                    <a:sym typeface="Calibri" panose="020F0502020204030204"/>
                  </a:rPr>
                  <a:t>通</a:t>
                </a:r>
                <a:endParaRPr lang="zh-CN" altLang="en-US" sz="1680" b="1" kern="0" dirty="0"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FillTx/>
                  <a:latin typeface="微软雅黑" panose="020B0503020204020204" charset="-122"/>
                  <a:ea typeface="微软雅黑" panose="020B0503020204020204" charset="-122"/>
                  <a:cs typeface="+mj-cs"/>
                  <a:sym typeface="Calibri" panose="020F0502020204030204"/>
                </a:endParaRPr>
              </a:p>
            </p:txBody>
          </p:sp>
        </p:grpSp>
        <p:sp>
          <p:nvSpPr>
            <p:cNvPr id="36" name="椭圆 35"/>
            <p:cNvSpPr/>
            <p:nvPr>
              <p:custDataLst>
                <p:tags r:id="rId8"/>
              </p:custDataLst>
            </p:nvPr>
          </p:nvSpPr>
          <p:spPr>
            <a:xfrm>
              <a:off x="7246" y="3965"/>
              <a:ext cx="5669" cy="5669"/>
            </a:xfrm>
            <a:prstGeom prst="ellipse">
              <a:avLst/>
            </a:prstGeom>
            <a:noFill/>
            <a:ln w="168275">
              <a:solidFill>
                <a:srgbClr val="2FCCFF">
                  <a:alpha val="7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</p:grp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4784725" y="2895600"/>
            <a:ext cx="12763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54405" fontAlgn="base" hangingPunct="0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kern="0" dirty="0">
                <a:solidFill>
                  <a:srgbClr val="0887E8"/>
                </a:solidFill>
                <a:uFillTx/>
                <a:latin typeface="微软雅黑" panose="020B0503020204020204" charset="-122"/>
                <a:ea typeface="+mj-ea"/>
                <a:cs typeface="+mj-cs"/>
                <a:sym typeface="+mn-ea"/>
              </a:rPr>
              <a:t>语音转写</a:t>
            </a:r>
            <a:endParaRPr lang="zh-CN" altLang="en-US" sz="1600" b="1" kern="0" dirty="0">
              <a:solidFill>
                <a:srgbClr val="0887E8"/>
              </a:solidFill>
              <a:uFillTx/>
              <a:latin typeface="微软雅黑" panose="020B0503020204020204" charset="-122"/>
              <a:ea typeface="+mj-ea"/>
              <a:cs typeface="+mj-cs"/>
              <a:sym typeface="+mn-ea"/>
            </a:endParaRPr>
          </a:p>
          <a:p>
            <a:pPr lvl="0" algn="ctr" defTabSz="954405" fontAlgn="base" hangingPunct="0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kern="0" dirty="0">
                <a:solidFill>
                  <a:srgbClr val="0887E8"/>
                </a:solidFill>
                <a:uFillTx/>
                <a:latin typeface="微软雅黑" panose="020B0503020204020204" charset="-122"/>
                <a:ea typeface="+mj-ea"/>
                <a:cs typeface="+mj-cs"/>
                <a:sym typeface="+mn-ea"/>
              </a:rPr>
              <a:t>与人声分离</a:t>
            </a:r>
            <a:endParaRPr lang="zh-CN" altLang="en-US" sz="1600" b="1" kern="0" dirty="0">
              <a:solidFill>
                <a:srgbClr val="0887E8"/>
              </a:solidFill>
              <a:uFillTx/>
              <a:latin typeface="微软雅黑" panose="020B0503020204020204" charset="-122"/>
              <a:ea typeface="+mj-ea"/>
              <a:cs typeface="+mj-cs"/>
              <a:sym typeface="+mn-ea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2668270" y="1484630"/>
            <a:ext cx="2616835" cy="1114425"/>
            <a:chOff x="4494" y="2928"/>
            <a:chExt cx="4121" cy="1755"/>
          </a:xfrm>
        </p:grpSpPr>
        <p:grpSp>
          <p:nvGrpSpPr>
            <p:cNvPr id="40" name="组合 39"/>
            <p:cNvGrpSpPr/>
            <p:nvPr/>
          </p:nvGrpSpPr>
          <p:grpSpPr>
            <a:xfrm>
              <a:off x="7309" y="3115"/>
              <a:ext cx="1147" cy="1075"/>
              <a:chOff x="6395" y="752"/>
              <a:chExt cx="1348" cy="1263"/>
            </a:xfrm>
          </p:grpSpPr>
          <p:sp>
            <p:nvSpPr>
              <p:cNvPr id="51" name="椭圆 50"/>
              <p:cNvSpPr/>
              <p:nvPr>
                <p:custDataLst>
                  <p:tags r:id="rId10"/>
                </p:custDataLst>
              </p:nvPr>
            </p:nvSpPr>
            <p:spPr>
              <a:xfrm>
                <a:off x="6445" y="752"/>
                <a:ext cx="1263" cy="1263"/>
              </a:xfrm>
              <a:prstGeom prst="ellipse">
                <a:avLst/>
              </a:prstGeom>
              <a:gradFill>
                <a:gsLst>
                  <a:gs pos="0">
                    <a:srgbClr val="47BCFF"/>
                  </a:gs>
                  <a:gs pos="100000">
                    <a:srgbClr val="007ECA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+mn-ea"/>
                </a:endParaRPr>
              </a:p>
            </p:txBody>
          </p:sp>
          <p:sp>
            <p:nvSpPr>
              <p:cNvPr id="52" name="矩形 51"/>
              <p:cNvSpPr/>
              <p:nvPr>
                <p:custDataLst>
                  <p:tags r:id="rId11"/>
                </p:custDataLst>
              </p:nvPr>
            </p:nvSpPr>
            <p:spPr>
              <a:xfrm>
                <a:off x="6395" y="1018"/>
                <a:ext cx="1348" cy="7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00" b="1" kern="0">
                    <a:uFillTx/>
                    <a:sym typeface="+mn-lt"/>
                  </a:rPr>
                  <a:t> </a:t>
                </a:r>
                <a:r>
                  <a:rPr lang="en-US" altLang="zh-CN" sz="1000" b="1" kern="0">
                    <a:uFillTx/>
                    <a:sym typeface="+mn-lt"/>
                  </a:rPr>
                  <a:t> </a:t>
                </a:r>
                <a:r>
                  <a:rPr lang="zh-CN" altLang="en-US" sz="1000" b="1" kern="0">
                    <a:uFillTx/>
                    <a:sym typeface="+mn-lt"/>
                  </a:rPr>
                  <a:t>高准确率引擎</a:t>
                </a:r>
                <a:endParaRPr lang="zh-CN" altLang="en-US" sz="1000" b="1" kern="0">
                  <a:uFillTx/>
                  <a:sym typeface="+mn-lt"/>
                </a:endParaRPr>
              </a:p>
            </p:txBody>
          </p:sp>
        </p:grpSp>
        <p:sp>
          <p:nvSpPr>
            <p:cNvPr id="41" name="圆角矩形 447"/>
            <p:cNvSpPr/>
            <p:nvPr>
              <p:custDataLst>
                <p:tags r:id="rId12"/>
              </p:custDataLst>
            </p:nvPr>
          </p:nvSpPr>
          <p:spPr>
            <a:xfrm>
              <a:off x="4494" y="3043"/>
              <a:ext cx="2655" cy="38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普通话高精准转写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42" name="圆角矩形 448"/>
            <p:cNvSpPr/>
            <p:nvPr>
              <p:custDataLst>
                <p:tags r:id="rId13"/>
              </p:custDataLst>
            </p:nvPr>
          </p:nvSpPr>
          <p:spPr>
            <a:xfrm>
              <a:off x="5106" y="3386"/>
              <a:ext cx="2044" cy="38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行业术语自适应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7091" y="2928"/>
              <a:ext cx="1525" cy="1462"/>
              <a:chOff x="3371" y="1878"/>
              <a:chExt cx="1792" cy="1718"/>
            </a:xfrm>
          </p:grpSpPr>
          <p:sp>
            <p:nvSpPr>
              <p:cNvPr id="46" name="椭圆 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445" y="1878"/>
                <a:ext cx="1718" cy="1718"/>
              </a:xfrm>
              <a:prstGeom prst="ellipse">
                <a:avLst/>
              </a:prstGeom>
              <a:noFill/>
              <a:ln>
                <a:solidFill>
                  <a:srgbClr val="2FCCFF">
                    <a:alpha val="25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7" name="椭圆 46"/>
              <p:cNvSpPr/>
              <p:nvPr>
                <p:custDataLst>
                  <p:tags r:id="rId15"/>
                </p:custDataLst>
              </p:nvPr>
            </p:nvSpPr>
            <p:spPr>
              <a:xfrm>
                <a:off x="3524" y="2147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8" name="椭圆 47"/>
              <p:cNvSpPr/>
              <p:nvPr>
                <p:custDataLst>
                  <p:tags r:id="rId16"/>
                </p:custDataLst>
              </p:nvPr>
            </p:nvSpPr>
            <p:spPr>
              <a:xfrm>
                <a:off x="3371" y="2506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9" name="椭圆 48"/>
              <p:cNvSpPr/>
              <p:nvPr>
                <p:custDataLst>
                  <p:tags r:id="rId17"/>
                </p:custDataLst>
              </p:nvPr>
            </p:nvSpPr>
            <p:spPr>
              <a:xfrm>
                <a:off x="3404" y="2960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50" name="椭圆 49"/>
              <p:cNvSpPr/>
              <p:nvPr>
                <p:custDataLst>
                  <p:tags r:id="rId18"/>
                </p:custDataLst>
              </p:nvPr>
            </p:nvSpPr>
            <p:spPr>
              <a:xfrm>
                <a:off x="3627" y="3295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</p:grpSp>
        <p:sp>
          <p:nvSpPr>
            <p:cNvPr id="44" name="圆角矩形 455"/>
            <p:cNvSpPr/>
            <p:nvPr>
              <p:custDataLst>
                <p:tags r:id="rId19"/>
              </p:custDataLst>
            </p:nvPr>
          </p:nvSpPr>
          <p:spPr>
            <a:xfrm>
              <a:off x="5139" y="3728"/>
              <a:ext cx="2044" cy="38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多场景噪音过滤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45" name="圆角矩形 456"/>
            <p:cNvSpPr/>
            <p:nvPr>
              <p:custDataLst>
                <p:tags r:id="rId20"/>
              </p:custDataLst>
            </p:nvPr>
          </p:nvSpPr>
          <p:spPr>
            <a:xfrm>
              <a:off x="5319" y="4070"/>
              <a:ext cx="2044" cy="38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实时流式转写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39" name="椭圆 38"/>
            <p:cNvSpPr/>
            <p:nvPr>
              <p:custDataLst>
                <p:tags r:id="rId21"/>
              </p:custDataLst>
            </p:nvPr>
          </p:nvSpPr>
          <p:spPr>
            <a:xfrm>
              <a:off x="7827" y="4329"/>
              <a:ext cx="135" cy="134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53" name="圆角矩形 9"/>
            <p:cNvSpPr/>
            <p:nvPr>
              <p:custDataLst>
                <p:tags r:id="rId22"/>
              </p:custDataLst>
            </p:nvPr>
          </p:nvSpPr>
          <p:spPr>
            <a:xfrm>
              <a:off x="5790" y="4299"/>
              <a:ext cx="2044" cy="38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kern="0" dirty="0">
                  <a:solidFill>
                    <a:schemeClr val="tx1"/>
                  </a:solidFill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+mn-ea"/>
                </a:rPr>
                <a:t>……</a:t>
              </a:r>
              <a:endParaRPr lang="zh-CN" altLang="en-US" sz="1200" kern="0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-187325" y="5548630"/>
            <a:ext cx="2199005" cy="1003300"/>
            <a:chOff x="-3" y="9328"/>
            <a:chExt cx="3463" cy="1580"/>
          </a:xfrm>
        </p:grpSpPr>
        <p:sp>
          <p:nvSpPr>
            <p:cNvPr id="450" name="椭圆 449"/>
            <p:cNvSpPr/>
            <p:nvPr>
              <p:custDataLst>
                <p:tags r:id="rId23"/>
              </p:custDataLst>
            </p:nvPr>
          </p:nvSpPr>
          <p:spPr>
            <a:xfrm>
              <a:off x="2126" y="9576"/>
              <a:ext cx="1130" cy="1130"/>
            </a:xfrm>
            <a:prstGeom prst="ellipse">
              <a:avLst/>
            </a:prstGeom>
            <a:gradFill>
              <a:gsLst>
                <a:gs pos="0">
                  <a:srgbClr val="47BCFF"/>
                </a:gs>
                <a:gs pos="100000">
                  <a:srgbClr val="007EC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+mn-ea"/>
              </a:endParaRPr>
            </a:p>
          </p:txBody>
        </p:sp>
        <p:sp>
          <p:nvSpPr>
            <p:cNvPr id="451" name="文本框 450"/>
            <p:cNvSpPr txBox="1"/>
            <p:nvPr>
              <p:custDataLst>
                <p:tags r:id="rId24"/>
              </p:custDataLst>
            </p:nvPr>
          </p:nvSpPr>
          <p:spPr>
            <a:xfrm>
              <a:off x="2126" y="9869"/>
              <a:ext cx="112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b="1" kern="0" dirty="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联网搜索</a:t>
              </a:r>
              <a:endParaRPr lang="zh-CN" altLang="en-US" sz="1000" b="1" kern="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8" name="圆角矩形 353"/>
            <p:cNvSpPr/>
            <p:nvPr>
              <p:custDataLst>
                <p:tags r:id="rId25"/>
              </p:custDataLst>
            </p:nvPr>
          </p:nvSpPr>
          <p:spPr>
            <a:xfrm>
              <a:off x="-3" y="9778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r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实时信息检索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59" name="圆角矩形 354"/>
            <p:cNvSpPr/>
            <p:nvPr>
              <p:custDataLst>
                <p:tags r:id="rId26"/>
              </p:custDataLst>
            </p:nvPr>
          </p:nvSpPr>
          <p:spPr>
            <a:xfrm>
              <a:off x="556" y="9328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r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信息摘要自动提炼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60" name="圆角矩形 355"/>
            <p:cNvSpPr/>
            <p:nvPr>
              <p:custDataLst>
                <p:tags r:id="rId27"/>
              </p:custDataLst>
            </p:nvPr>
          </p:nvSpPr>
          <p:spPr>
            <a:xfrm>
              <a:off x="221" y="10370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r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信息溯源可查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1875" y="9371"/>
              <a:ext cx="1585" cy="1537"/>
              <a:chOff x="3392" y="1878"/>
              <a:chExt cx="1771" cy="1718"/>
            </a:xfrm>
          </p:grpSpPr>
          <p:sp>
            <p:nvSpPr>
              <p:cNvPr id="62" name="椭圆 61"/>
              <p:cNvSpPr/>
              <p:nvPr>
                <p:custDataLst>
                  <p:tags r:id="rId28"/>
                </p:custDataLst>
              </p:nvPr>
            </p:nvSpPr>
            <p:spPr>
              <a:xfrm>
                <a:off x="3445" y="1878"/>
                <a:ext cx="1718" cy="1718"/>
              </a:xfrm>
              <a:prstGeom prst="ellipse">
                <a:avLst/>
              </a:prstGeom>
              <a:noFill/>
              <a:ln>
                <a:solidFill>
                  <a:srgbClr val="2FCCFF">
                    <a:alpha val="25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63" name="椭圆 62"/>
              <p:cNvSpPr/>
              <p:nvPr>
                <p:custDataLst>
                  <p:tags r:id="rId29"/>
                </p:custDataLst>
              </p:nvPr>
            </p:nvSpPr>
            <p:spPr>
              <a:xfrm>
                <a:off x="3619" y="2000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48" name="椭圆 447"/>
              <p:cNvSpPr/>
              <p:nvPr>
                <p:custDataLst>
                  <p:tags r:id="rId30"/>
                </p:custDataLst>
              </p:nvPr>
            </p:nvSpPr>
            <p:spPr>
              <a:xfrm>
                <a:off x="3392" y="2471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49" name="椭圆 448"/>
              <p:cNvSpPr/>
              <p:nvPr>
                <p:custDataLst>
                  <p:tags r:id="rId31"/>
                </p:custDataLst>
              </p:nvPr>
            </p:nvSpPr>
            <p:spPr>
              <a:xfrm>
                <a:off x="3392" y="2935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</p:grpSp>
        <p:sp>
          <p:nvSpPr>
            <p:cNvPr id="55" name="椭圆 54"/>
            <p:cNvSpPr/>
            <p:nvPr>
              <p:custDataLst>
                <p:tags r:id="rId32"/>
              </p:custDataLst>
            </p:nvPr>
          </p:nvSpPr>
          <p:spPr>
            <a:xfrm>
              <a:off x="2077" y="10672"/>
              <a:ext cx="142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56" name="圆角矩形 22"/>
            <p:cNvSpPr/>
            <p:nvPr>
              <p:custDataLst>
                <p:tags r:id="rId33"/>
              </p:custDataLst>
            </p:nvPr>
          </p:nvSpPr>
          <p:spPr>
            <a:xfrm>
              <a:off x="268" y="10370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r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200" kern="0" dirty="0">
                  <a:solidFill>
                    <a:schemeClr val="tx1"/>
                  </a:solidFill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+mn-ea"/>
                </a:rPr>
                <a:t>……</a:t>
              </a:r>
              <a:endParaRPr lang="zh-CN" altLang="en-US" sz="1200" kern="0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534160" y="4012565"/>
            <a:ext cx="2617470" cy="1045210"/>
            <a:chOff x="2708" y="6909"/>
            <a:chExt cx="4122" cy="1646"/>
          </a:xfrm>
        </p:grpSpPr>
        <p:sp>
          <p:nvSpPr>
            <p:cNvPr id="467" name="椭圆 466"/>
            <p:cNvSpPr/>
            <p:nvPr>
              <p:custDataLst>
                <p:tags r:id="rId34"/>
              </p:custDataLst>
            </p:nvPr>
          </p:nvSpPr>
          <p:spPr>
            <a:xfrm>
              <a:off x="5566" y="7209"/>
              <a:ext cx="1075" cy="1075"/>
            </a:xfrm>
            <a:prstGeom prst="ellipse">
              <a:avLst/>
            </a:prstGeom>
            <a:gradFill>
              <a:gsLst>
                <a:gs pos="0">
                  <a:srgbClr val="47BCFF"/>
                </a:gs>
                <a:gs pos="100000">
                  <a:srgbClr val="007EC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+mn-ea"/>
              </a:endParaRPr>
            </a:p>
          </p:txBody>
        </p:sp>
        <p:sp>
          <p:nvSpPr>
            <p:cNvPr id="468" name="文本框 467"/>
            <p:cNvSpPr txBox="1"/>
            <p:nvPr>
              <p:custDataLst>
                <p:tags r:id="rId35"/>
              </p:custDataLst>
            </p:nvPr>
          </p:nvSpPr>
          <p:spPr>
            <a:xfrm>
              <a:off x="5523" y="7432"/>
              <a:ext cx="114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b="1" kern="0" dirty="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实时问答互动</a:t>
              </a:r>
              <a:endParaRPr lang="zh-CN" altLang="en-US" sz="1000" b="1" kern="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58" name="圆角矩形 391"/>
            <p:cNvSpPr/>
            <p:nvPr>
              <p:custDataLst>
                <p:tags r:id="rId36"/>
              </p:custDataLst>
            </p:nvPr>
          </p:nvSpPr>
          <p:spPr>
            <a:xfrm>
              <a:off x="2708" y="7332"/>
              <a:ext cx="2655" cy="38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会议内容关联问答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459" name="圆角矩形 392"/>
            <p:cNvSpPr/>
            <p:nvPr>
              <p:custDataLst>
                <p:tags r:id="rId37"/>
              </p:custDataLst>
            </p:nvPr>
          </p:nvSpPr>
          <p:spPr>
            <a:xfrm>
              <a:off x="3320" y="7754"/>
              <a:ext cx="2044" cy="38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跨场景知识调用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grpSp>
          <p:nvGrpSpPr>
            <p:cNvPr id="460" name="组合 459"/>
            <p:cNvGrpSpPr/>
            <p:nvPr/>
          </p:nvGrpSpPr>
          <p:grpSpPr>
            <a:xfrm>
              <a:off x="5305" y="7022"/>
              <a:ext cx="1525" cy="1533"/>
              <a:chOff x="3371" y="1878"/>
              <a:chExt cx="1792" cy="1801"/>
            </a:xfrm>
          </p:grpSpPr>
          <p:sp>
            <p:nvSpPr>
              <p:cNvPr id="462" name="椭圆 461"/>
              <p:cNvSpPr/>
              <p:nvPr>
                <p:custDataLst>
                  <p:tags r:id="rId38"/>
                </p:custDataLst>
              </p:nvPr>
            </p:nvSpPr>
            <p:spPr>
              <a:xfrm>
                <a:off x="3445" y="1878"/>
                <a:ext cx="1718" cy="1718"/>
              </a:xfrm>
              <a:prstGeom prst="ellipse">
                <a:avLst/>
              </a:prstGeom>
              <a:noFill/>
              <a:ln>
                <a:solidFill>
                  <a:srgbClr val="2FCCFF">
                    <a:alpha val="25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63" name="椭圆 462"/>
              <p:cNvSpPr/>
              <p:nvPr>
                <p:custDataLst>
                  <p:tags r:id="rId39"/>
                </p:custDataLst>
              </p:nvPr>
            </p:nvSpPr>
            <p:spPr>
              <a:xfrm>
                <a:off x="3371" y="2411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64" name="椭圆 463"/>
              <p:cNvSpPr/>
              <p:nvPr>
                <p:custDataLst>
                  <p:tags r:id="rId40"/>
                </p:custDataLst>
              </p:nvPr>
            </p:nvSpPr>
            <p:spPr>
              <a:xfrm>
                <a:off x="3371" y="2930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65" name="椭圆 464"/>
              <p:cNvSpPr/>
              <p:nvPr>
                <p:custDataLst>
                  <p:tags r:id="rId41"/>
                </p:custDataLst>
              </p:nvPr>
            </p:nvSpPr>
            <p:spPr>
              <a:xfrm>
                <a:off x="3642" y="3361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66" name="椭圆 465"/>
              <p:cNvSpPr/>
              <p:nvPr>
                <p:custDataLst>
                  <p:tags r:id="rId42"/>
                </p:custDataLst>
              </p:nvPr>
            </p:nvSpPr>
            <p:spPr>
              <a:xfrm>
                <a:off x="4130" y="3520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</p:grpSp>
        <p:sp>
          <p:nvSpPr>
            <p:cNvPr id="454" name="椭圆 453"/>
            <p:cNvSpPr/>
            <p:nvPr>
              <p:custDataLst>
                <p:tags r:id="rId43"/>
              </p:custDataLst>
            </p:nvPr>
          </p:nvSpPr>
          <p:spPr>
            <a:xfrm>
              <a:off x="5536" y="7089"/>
              <a:ext cx="135" cy="135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455" name="圆角矩形 26"/>
            <p:cNvSpPr/>
            <p:nvPr>
              <p:custDataLst>
                <p:tags r:id="rId44"/>
              </p:custDataLst>
            </p:nvPr>
          </p:nvSpPr>
          <p:spPr>
            <a:xfrm>
              <a:off x="2868" y="6909"/>
              <a:ext cx="2655" cy="38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会议中即时响应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456" name="文本框 455"/>
            <p:cNvSpPr txBox="1"/>
            <p:nvPr/>
          </p:nvSpPr>
          <p:spPr>
            <a:xfrm>
              <a:off x="4610" y="8093"/>
              <a:ext cx="1018" cy="43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45719" tIns="45719" rIns="45719" bIns="45719" numCol="1" spcCol="38100" rtlCol="0" anchor="t" forceAA="0">
              <a:spAutoFit/>
            </a:bodyPr>
            <a:lstStyle/>
            <a:p>
              <a:pPr marL="0" marR="0" indent="0" algn="l" defTabSz="95440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2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 panose="020F0502020204030204"/>
                </a:rPr>
                <a:t>……</a:t>
              </a:r>
              <a:endParaRPr kumimoji="0" lang="zh-CN" altLang="en-US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 panose="020F0502020204030204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1142365" y="2631440"/>
            <a:ext cx="3620135" cy="1010285"/>
            <a:chOff x="1004" y="4807"/>
            <a:chExt cx="5701" cy="1591"/>
          </a:xfrm>
        </p:grpSpPr>
        <p:sp>
          <p:nvSpPr>
            <p:cNvPr id="469" name="椭圆 468"/>
            <p:cNvSpPr/>
            <p:nvPr>
              <p:custDataLst>
                <p:tags r:id="rId45"/>
              </p:custDataLst>
            </p:nvPr>
          </p:nvSpPr>
          <p:spPr>
            <a:xfrm>
              <a:off x="3456" y="6115"/>
              <a:ext cx="135" cy="135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grpSp>
          <p:nvGrpSpPr>
            <p:cNvPr id="473" name="组合 472"/>
            <p:cNvGrpSpPr/>
            <p:nvPr/>
          </p:nvGrpSpPr>
          <p:grpSpPr>
            <a:xfrm>
              <a:off x="3353" y="4994"/>
              <a:ext cx="1147" cy="1075"/>
              <a:chOff x="6385" y="752"/>
              <a:chExt cx="1348" cy="1263"/>
            </a:xfrm>
          </p:grpSpPr>
          <p:sp>
            <p:nvSpPr>
              <p:cNvPr id="484" name="椭圆 483"/>
              <p:cNvSpPr/>
              <p:nvPr>
                <p:custDataLst>
                  <p:tags r:id="rId46"/>
                </p:custDataLst>
              </p:nvPr>
            </p:nvSpPr>
            <p:spPr>
              <a:xfrm>
                <a:off x="6445" y="752"/>
                <a:ext cx="1263" cy="1263"/>
              </a:xfrm>
              <a:prstGeom prst="ellipse">
                <a:avLst/>
              </a:prstGeom>
              <a:gradFill>
                <a:gsLst>
                  <a:gs pos="0">
                    <a:srgbClr val="47BCFF"/>
                  </a:gs>
                  <a:gs pos="100000">
                    <a:srgbClr val="007ECA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+mn-ea"/>
                </a:endParaRPr>
              </a:p>
            </p:txBody>
          </p:sp>
          <p:sp>
            <p:nvSpPr>
              <p:cNvPr id="492" name="矩形 491"/>
              <p:cNvSpPr/>
              <p:nvPr>
                <p:custDataLst>
                  <p:tags r:id="rId47"/>
                </p:custDataLst>
              </p:nvPr>
            </p:nvSpPr>
            <p:spPr>
              <a:xfrm>
                <a:off x="6385" y="804"/>
                <a:ext cx="1348" cy="10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00" b="1" kern="0">
                    <a:uFillTx/>
                    <a:sym typeface="+mn-lt"/>
                  </a:rPr>
                  <a:t>分离</a:t>
                </a:r>
                <a:endParaRPr lang="zh-CN" altLang="en-US" sz="1000" b="1" kern="0">
                  <a:uFillTx/>
                  <a:sym typeface="+mn-lt"/>
                </a:endParaRPr>
              </a:p>
              <a:p>
                <a:pPr lvl="0"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00" b="1" kern="0">
                    <a:uFillTx/>
                    <a:sym typeface="+mn-lt"/>
                  </a:rPr>
                  <a:t>说话人</a:t>
                </a:r>
                <a:endParaRPr lang="zh-CN" altLang="en-US" sz="1000" b="1" kern="0">
                  <a:uFillTx/>
                  <a:sym typeface="+mn-lt"/>
                </a:endParaRPr>
              </a:p>
            </p:txBody>
          </p:sp>
        </p:grpSp>
        <p:sp>
          <p:nvSpPr>
            <p:cNvPr id="474" name="圆角矩形 461"/>
            <p:cNvSpPr/>
            <p:nvPr>
              <p:custDataLst>
                <p:tags r:id="rId48"/>
              </p:custDataLst>
            </p:nvPr>
          </p:nvSpPr>
          <p:spPr>
            <a:xfrm>
              <a:off x="1004" y="5107"/>
              <a:ext cx="2044" cy="38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多说话人自动分离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grpSp>
          <p:nvGrpSpPr>
            <p:cNvPr id="475" name="组合 474"/>
            <p:cNvGrpSpPr/>
            <p:nvPr/>
          </p:nvGrpSpPr>
          <p:grpSpPr>
            <a:xfrm>
              <a:off x="3173" y="4807"/>
              <a:ext cx="1572" cy="1462"/>
              <a:chOff x="3407" y="1878"/>
              <a:chExt cx="1848" cy="1718"/>
            </a:xfrm>
          </p:grpSpPr>
          <p:sp>
            <p:nvSpPr>
              <p:cNvPr id="479" name="椭圆 478"/>
              <p:cNvSpPr/>
              <p:nvPr>
                <p:custDataLst>
                  <p:tags r:id="rId49"/>
                </p:custDataLst>
              </p:nvPr>
            </p:nvSpPr>
            <p:spPr>
              <a:xfrm>
                <a:off x="3445" y="1878"/>
                <a:ext cx="1718" cy="1718"/>
              </a:xfrm>
              <a:prstGeom prst="ellipse">
                <a:avLst/>
              </a:prstGeom>
              <a:noFill/>
              <a:ln>
                <a:solidFill>
                  <a:srgbClr val="2FCCFF">
                    <a:alpha val="25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80" name="椭圆 479"/>
              <p:cNvSpPr/>
              <p:nvPr>
                <p:custDataLst>
                  <p:tags r:id="rId50"/>
                </p:custDataLst>
              </p:nvPr>
            </p:nvSpPr>
            <p:spPr>
              <a:xfrm>
                <a:off x="3432" y="2328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81" name="椭圆 480"/>
              <p:cNvSpPr/>
              <p:nvPr>
                <p:custDataLst>
                  <p:tags r:id="rId51"/>
                </p:custDataLst>
              </p:nvPr>
            </p:nvSpPr>
            <p:spPr>
              <a:xfrm>
                <a:off x="3407" y="2952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82" name="椭圆 481"/>
              <p:cNvSpPr/>
              <p:nvPr>
                <p:custDataLst>
                  <p:tags r:id="rId52"/>
                </p:custDataLst>
              </p:nvPr>
            </p:nvSpPr>
            <p:spPr>
              <a:xfrm>
                <a:off x="5096" y="2519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83" name="椭圆 482"/>
              <p:cNvSpPr/>
              <p:nvPr>
                <p:custDataLst>
                  <p:tags r:id="rId53"/>
                </p:custDataLst>
              </p:nvPr>
            </p:nvSpPr>
            <p:spPr>
              <a:xfrm>
                <a:off x="5003" y="3052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</p:grpSp>
        <p:sp>
          <p:nvSpPr>
            <p:cNvPr id="476" name="圆角矩形 468"/>
            <p:cNvSpPr/>
            <p:nvPr>
              <p:custDataLst>
                <p:tags r:id="rId54"/>
              </p:custDataLst>
            </p:nvPr>
          </p:nvSpPr>
          <p:spPr>
            <a:xfrm>
              <a:off x="1096" y="5561"/>
              <a:ext cx="2044" cy="38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发言时序对齐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477" name="圆角矩形 469"/>
            <p:cNvSpPr/>
            <p:nvPr>
              <p:custDataLst>
                <p:tags r:id="rId55"/>
              </p:custDataLst>
            </p:nvPr>
          </p:nvSpPr>
          <p:spPr>
            <a:xfrm>
              <a:off x="4661" y="5223"/>
              <a:ext cx="2044" cy="38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声纹自适应学习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472" name="圆角矩形 31"/>
            <p:cNvSpPr/>
            <p:nvPr>
              <p:custDataLst>
                <p:tags r:id="rId56"/>
              </p:custDataLst>
            </p:nvPr>
          </p:nvSpPr>
          <p:spPr>
            <a:xfrm>
              <a:off x="1424" y="6014"/>
              <a:ext cx="2044" cy="38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kern="0" dirty="0">
                  <a:solidFill>
                    <a:schemeClr val="tx1"/>
                  </a:solidFill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+mn-ea"/>
                </a:rPr>
                <a:t>……</a:t>
              </a:r>
              <a:endParaRPr lang="zh-CN" altLang="en-US" sz="1200" kern="0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547745" y="5541645"/>
            <a:ext cx="2273935" cy="1191895"/>
            <a:chOff x="5879" y="9317"/>
            <a:chExt cx="3581" cy="1877"/>
          </a:xfrm>
        </p:grpSpPr>
        <p:sp>
          <p:nvSpPr>
            <p:cNvPr id="89" name="椭圆 88"/>
            <p:cNvSpPr/>
            <p:nvPr>
              <p:custDataLst>
                <p:tags r:id="rId57"/>
              </p:custDataLst>
            </p:nvPr>
          </p:nvSpPr>
          <p:spPr>
            <a:xfrm>
              <a:off x="8196" y="9919"/>
              <a:ext cx="1075" cy="1075"/>
            </a:xfrm>
            <a:prstGeom prst="ellipse">
              <a:avLst/>
            </a:prstGeom>
            <a:gradFill>
              <a:gsLst>
                <a:gs pos="0">
                  <a:srgbClr val="47BCFF"/>
                </a:gs>
                <a:gs pos="100000">
                  <a:srgbClr val="007EC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+mn-ea"/>
              </a:endParaRPr>
            </a:p>
          </p:txBody>
        </p:sp>
        <p:sp>
          <p:nvSpPr>
            <p:cNvPr id="90" name="文本框 89"/>
            <p:cNvSpPr txBox="1"/>
            <p:nvPr>
              <p:custDataLst>
                <p:tags r:id="rId58"/>
              </p:custDataLst>
            </p:nvPr>
          </p:nvSpPr>
          <p:spPr>
            <a:xfrm>
              <a:off x="8153" y="10137"/>
              <a:ext cx="114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b="1" kern="0" dirty="0" err="1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历史知识检索</a:t>
              </a:r>
              <a:endParaRPr lang="zh-CN" altLang="en-US" sz="1000" b="1" kern="0" dirty="0" err="1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7923" y="9691"/>
              <a:ext cx="1537" cy="1503"/>
              <a:chOff x="3356" y="1831"/>
              <a:chExt cx="1807" cy="1765"/>
            </a:xfrm>
          </p:grpSpPr>
          <p:sp>
            <p:nvSpPr>
              <p:cNvPr id="85" name="椭圆 84"/>
              <p:cNvSpPr/>
              <p:nvPr>
                <p:custDataLst>
                  <p:tags r:id="rId59"/>
                </p:custDataLst>
              </p:nvPr>
            </p:nvSpPr>
            <p:spPr>
              <a:xfrm>
                <a:off x="3445" y="1878"/>
                <a:ext cx="1718" cy="1718"/>
              </a:xfrm>
              <a:prstGeom prst="ellipse">
                <a:avLst/>
              </a:prstGeom>
              <a:noFill/>
              <a:ln>
                <a:solidFill>
                  <a:srgbClr val="2FCCFF">
                    <a:alpha val="25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86" name="椭圆 85"/>
              <p:cNvSpPr/>
              <p:nvPr>
                <p:custDataLst>
                  <p:tags r:id="rId60"/>
                </p:custDataLst>
              </p:nvPr>
            </p:nvSpPr>
            <p:spPr>
              <a:xfrm>
                <a:off x="3356" y="2521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87" name="椭圆 86"/>
              <p:cNvSpPr/>
              <p:nvPr>
                <p:custDataLst>
                  <p:tags r:id="rId61"/>
                </p:custDataLst>
              </p:nvPr>
            </p:nvSpPr>
            <p:spPr>
              <a:xfrm>
                <a:off x="3925" y="1831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88" name="椭圆 87"/>
              <p:cNvSpPr/>
              <p:nvPr>
                <p:custDataLst>
                  <p:tags r:id="rId62"/>
                </p:custDataLst>
              </p:nvPr>
            </p:nvSpPr>
            <p:spPr>
              <a:xfrm>
                <a:off x="3521" y="2133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</p:grpSp>
        <p:sp>
          <p:nvSpPr>
            <p:cNvPr id="82" name="圆角矩形 425"/>
            <p:cNvSpPr/>
            <p:nvPr>
              <p:custDataLst>
                <p:tags r:id="rId63"/>
              </p:custDataLst>
            </p:nvPr>
          </p:nvSpPr>
          <p:spPr>
            <a:xfrm>
              <a:off x="6108" y="9779"/>
              <a:ext cx="2044" cy="38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会议文件调取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83" name="圆角矩形 428"/>
            <p:cNvSpPr/>
            <p:nvPr>
              <p:custDataLst>
                <p:tags r:id="rId64"/>
              </p:custDataLst>
            </p:nvPr>
          </p:nvSpPr>
          <p:spPr>
            <a:xfrm>
              <a:off x="6412" y="9317"/>
              <a:ext cx="2044" cy="38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历史会议内容检索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84" name="圆角矩形 430"/>
            <p:cNvSpPr/>
            <p:nvPr>
              <p:custDataLst>
                <p:tags r:id="rId65"/>
              </p:custDataLst>
            </p:nvPr>
          </p:nvSpPr>
          <p:spPr>
            <a:xfrm>
              <a:off x="5919" y="10233"/>
              <a:ext cx="2044" cy="38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检索结果精准筛选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79" name="圆角矩形 37"/>
            <p:cNvSpPr/>
            <p:nvPr>
              <p:custDataLst>
                <p:tags r:id="rId66"/>
              </p:custDataLst>
            </p:nvPr>
          </p:nvSpPr>
          <p:spPr>
            <a:xfrm>
              <a:off x="5879" y="10448"/>
              <a:ext cx="2044" cy="38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kern="0" dirty="0">
                  <a:solidFill>
                    <a:schemeClr val="tx1"/>
                  </a:solidFill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+mn-ea"/>
                </a:rPr>
                <a:t>……</a:t>
              </a:r>
              <a:endParaRPr lang="zh-CN" altLang="en-US" sz="1200" kern="0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91" name="椭圆 90"/>
            <p:cNvSpPr/>
            <p:nvPr>
              <p:custDataLst>
                <p:tags r:id="rId67"/>
              </p:custDataLst>
            </p:nvPr>
          </p:nvSpPr>
          <p:spPr>
            <a:xfrm flipV="1">
              <a:off x="7963" y="10654"/>
              <a:ext cx="120" cy="12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9578975" y="1423670"/>
            <a:ext cx="2186305" cy="975995"/>
            <a:chOff x="15377" y="2832"/>
            <a:chExt cx="3443" cy="1537"/>
          </a:xfrm>
        </p:grpSpPr>
        <p:sp>
          <p:nvSpPr>
            <p:cNvPr id="103" name="椭圆 102"/>
            <p:cNvSpPr/>
            <p:nvPr>
              <p:custDataLst>
                <p:tags r:id="rId68"/>
              </p:custDataLst>
            </p:nvPr>
          </p:nvSpPr>
          <p:spPr>
            <a:xfrm>
              <a:off x="15580" y="3038"/>
              <a:ext cx="1130" cy="1130"/>
            </a:xfrm>
            <a:prstGeom prst="ellipse">
              <a:avLst/>
            </a:prstGeom>
            <a:gradFill>
              <a:gsLst>
                <a:gs pos="0">
                  <a:srgbClr val="47BCFF"/>
                </a:gs>
                <a:gs pos="100000">
                  <a:srgbClr val="007EC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+mn-ea"/>
              </a:endParaRPr>
            </a:p>
          </p:txBody>
        </p:sp>
        <p:sp>
          <p:nvSpPr>
            <p:cNvPr id="104" name="文本框 103"/>
            <p:cNvSpPr txBox="1"/>
            <p:nvPr>
              <p:custDataLst>
                <p:tags r:id="rId69"/>
              </p:custDataLst>
            </p:nvPr>
          </p:nvSpPr>
          <p:spPr>
            <a:xfrm>
              <a:off x="15580" y="3331"/>
              <a:ext cx="120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kern="0" dirty="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</a:t>
              </a:r>
              <a:r>
                <a:rPr lang="zh-CN" altLang="en-US" sz="1000" b="1" kern="0" dirty="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任务自动拆解</a:t>
              </a:r>
              <a:endParaRPr lang="zh-CN" altLang="en-US" sz="1000" b="1" kern="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7" name="圆角矩形 232"/>
            <p:cNvSpPr/>
            <p:nvPr>
              <p:custDataLst>
                <p:tags r:id="rId70"/>
              </p:custDataLst>
            </p:nvPr>
          </p:nvSpPr>
          <p:spPr>
            <a:xfrm>
              <a:off x="16877" y="2852"/>
              <a:ext cx="1768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任务项智能识别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98" name="圆角矩形 234"/>
            <p:cNvSpPr/>
            <p:nvPr>
              <p:custDataLst>
                <p:tags r:id="rId71"/>
              </p:custDataLst>
            </p:nvPr>
          </p:nvSpPr>
          <p:spPr>
            <a:xfrm>
              <a:off x="17052" y="3275"/>
              <a:ext cx="1768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任务时间节点标注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grpSp>
          <p:nvGrpSpPr>
            <p:cNvPr id="99" name="组合 98"/>
            <p:cNvGrpSpPr/>
            <p:nvPr/>
          </p:nvGrpSpPr>
          <p:grpSpPr>
            <a:xfrm>
              <a:off x="15377" y="2832"/>
              <a:ext cx="1588" cy="1537"/>
              <a:chOff x="3445" y="1878"/>
              <a:chExt cx="1775" cy="1718"/>
            </a:xfrm>
          </p:grpSpPr>
          <p:sp>
            <p:nvSpPr>
              <p:cNvPr id="100" name="椭圆 99"/>
              <p:cNvSpPr/>
              <p:nvPr>
                <p:custDataLst>
                  <p:tags r:id="rId72"/>
                </p:custDataLst>
              </p:nvPr>
            </p:nvSpPr>
            <p:spPr>
              <a:xfrm>
                <a:off x="3445" y="1878"/>
                <a:ext cx="1718" cy="1718"/>
              </a:xfrm>
              <a:prstGeom prst="ellipse">
                <a:avLst/>
              </a:prstGeom>
              <a:noFill/>
              <a:ln>
                <a:solidFill>
                  <a:srgbClr val="2FCCFF">
                    <a:alpha val="25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101" name="椭圆 100"/>
              <p:cNvSpPr/>
              <p:nvPr>
                <p:custDataLst>
                  <p:tags r:id="rId73"/>
                </p:custDataLst>
              </p:nvPr>
            </p:nvSpPr>
            <p:spPr>
              <a:xfrm>
                <a:off x="4861" y="2056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102" name="椭圆 101"/>
              <p:cNvSpPr/>
              <p:nvPr>
                <p:custDataLst>
                  <p:tags r:id="rId74"/>
                </p:custDataLst>
              </p:nvPr>
            </p:nvSpPr>
            <p:spPr>
              <a:xfrm>
                <a:off x="5061" y="2497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</p:grpSp>
        <p:sp>
          <p:nvSpPr>
            <p:cNvPr id="94" name="圆角矩形 38"/>
            <p:cNvSpPr/>
            <p:nvPr>
              <p:custDataLst>
                <p:tags r:id="rId75"/>
              </p:custDataLst>
            </p:nvPr>
          </p:nvSpPr>
          <p:spPr>
            <a:xfrm>
              <a:off x="16914" y="3698"/>
              <a:ext cx="1769" cy="40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200" kern="0" dirty="0">
                  <a:solidFill>
                    <a:schemeClr val="tx1"/>
                  </a:solidFill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+mn-ea"/>
                </a:rPr>
                <a:t>……</a:t>
              </a:r>
              <a:endParaRPr lang="zh-CN" altLang="en-US" sz="1200" kern="0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95" name="椭圆 94"/>
            <p:cNvSpPr/>
            <p:nvPr>
              <p:custDataLst>
                <p:tags r:id="rId76"/>
              </p:custDataLst>
            </p:nvPr>
          </p:nvSpPr>
          <p:spPr>
            <a:xfrm>
              <a:off x="16786" y="3875"/>
              <a:ext cx="142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7236460" y="1420495"/>
            <a:ext cx="2157095" cy="1193165"/>
            <a:chOff x="11688" y="2827"/>
            <a:chExt cx="3397" cy="1879"/>
          </a:xfrm>
        </p:grpSpPr>
        <p:grpSp>
          <p:nvGrpSpPr>
            <p:cNvPr id="111" name="组合 110"/>
            <p:cNvGrpSpPr/>
            <p:nvPr/>
          </p:nvGrpSpPr>
          <p:grpSpPr>
            <a:xfrm>
              <a:off x="11891" y="3062"/>
              <a:ext cx="1206" cy="1132"/>
              <a:chOff x="6395" y="762"/>
              <a:chExt cx="1348" cy="1263"/>
            </a:xfrm>
          </p:grpSpPr>
          <p:sp>
            <p:nvSpPr>
              <p:cNvPr id="125" name="椭圆 124"/>
              <p:cNvSpPr/>
              <p:nvPr>
                <p:custDataLst>
                  <p:tags r:id="rId77"/>
                </p:custDataLst>
              </p:nvPr>
            </p:nvSpPr>
            <p:spPr>
              <a:xfrm>
                <a:off x="6395" y="762"/>
                <a:ext cx="1263" cy="1263"/>
              </a:xfrm>
              <a:prstGeom prst="ellipse">
                <a:avLst/>
              </a:prstGeom>
              <a:gradFill>
                <a:gsLst>
                  <a:gs pos="0">
                    <a:srgbClr val="47BCFF"/>
                  </a:gs>
                  <a:gs pos="100000">
                    <a:srgbClr val="007ECA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+mn-ea"/>
                </a:endParaRPr>
              </a:p>
            </p:txBody>
          </p:sp>
          <p:sp>
            <p:nvSpPr>
              <p:cNvPr id="126" name="矩形 125"/>
              <p:cNvSpPr/>
              <p:nvPr>
                <p:custDataLst>
                  <p:tags r:id="rId78"/>
                </p:custDataLst>
              </p:nvPr>
            </p:nvSpPr>
            <p:spPr>
              <a:xfrm>
                <a:off x="6395" y="1091"/>
                <a:ext cx="1348" cy="72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00" b="1" kern="0">
                    <a:uFillTx/>
                    <a:sym typeface="+mn-lt"/>
                  </a:rPr>
                  <a:t>关键信息提取</a:t>
                </a:r>
                <a:endParaRPr lang="zh-CN" altLang="en-US" sz="1000" b="1" kern="0">
                  <a:uFillTx/>
                  <a:sym typeface="+mn-lt"/>
                </a:endParaRPr>
              </a:p>
            </p:txBody>
          </p:sp>
        </p:grpSp>
        <p:sp>
          <p:nvSpPr>
            <p:cNvPr id="112" name="圆角矩形 160"/>
            <p:cNvSpPr/>
            <p:nvPr>
              <p:custDataLst>
                <p:tags r:id="rId79"/>
              </p:custDataLst>
            </p:nvPr>
          </p:nvSpPr>
          <p:spPr>
            <a:xfrm>
              <a:off x="13070" y="2827"/>
              <a:ext cx="1769" cy="40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会议议题自动抓取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113" name="圆角矩形 161"/>
            <p:cNvSpPr/>
            <p:nvPr>
              <p:custDataLst>
                <p:tags r:id="rId80"/>
              </p:custDataLst>
            </p:nvPr>
          </p:nvSpPr>
          <p:spPr>
            <a:xfrm>
              <a:off x="13289" y="3228"/>
              <a:ext cx="1769" cy="40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决策要点智能提炼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114" name="圆角矩形 162"/>
            <p:cNvSpPr/>
            <p:nvPr>
              <p:custDataLst>
                <p:tags r:id="rId81"/>
              </p:custDataLst>
            </p:nvPr>
          </p:nvSpPr>
          <p:spPr>
            <a:xfrm>
              <a:off x="13317" y="3628"/>
              <a:ext cx="1769" cy="40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待办事项精准识别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116" name="圆角矩形 163"/>
            <p:cNvSpPr/>
            <p:nvPr>
              <p:custDataLst>
                <p:tags r:id="rId82"/>
              </p:custDataLst>
            </p:nvPr>
          </p:nvSpPr>
          <p:spPr>
            <a:xfrm>
              <a:off x="13071" y="4029"/>
              <a:ext cx="1769" cy="40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隐形</a:t>
              </a: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未办自动标注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grpSp>
          <p:nvGrpSpPr>
            <p:cNvPr id="117" name="组合 116"/>
            <p:cNvGrpSpPr/>
            <p:nvPr/>
          </p:nvGrpSpPr>
          <p:grpSpPr>
            <a:xfrm>
              <a:off x="11688" y="2856"/>
              <a:ext cx="1652" cy="1540"/>
              <a:chOff x="3445" y="1878"/>
              <a:chExt cx="1846" cy="1718"/>
            </a:xfrm>
          </p:grpSpPr>
          <p:sp>
            <p:nvSpPr>
              <p:cNvPr id="118" name="椭圆 117"/>
              <p:cNvSpPr/>
              <p:nvPr>
                <p:custDataLst>
                  <p:tags r:id="rId83"/>
                </p:custDataLst>
              </p:nvPr>
            </p:nvSpPr>
            <p:spPr>
              <a:xfrm>
                <a:off x="3445" y="1878"/>
                <a:ext cx="1718" cy="1718"/>
              </a:xfrm>
              <a:prstGeom prst="ellipse">
                <a:avLst/>
              </a:prstGeom>
              <a:noFill/>
              <a:ln>
                <a:solidFill>
                  <a:srgbClr val="2FCCFF">
                    <a:alpha val="25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119" name="椭圆 118"/>
              <p:cNvSpPr/>
              <p:nvPr>
                <p:custDataLst>
                  <p:tags r:id="rId84"/>
                </p:custDataLst>
              </p:nvPr>
            </p:nvSpPr>
            <p:spPr>
              <a:xfrm>
                <a:off x="4868" y="1997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122" name="椭圆 121"/>
              <p:cNvSpPr/>
              <p:nvPr>
                <p:custDataLst>
                  <p:tags r:id="rId85"/>
                </p:custDataLst>
              </p:nvPr>
            </p:nvSpPr>
            <p:spPr>
              <a:xfrm>
                <a:off x="5132" y="2415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123" name="椭圆 122"/>
              <p:cNvSpPr/>
              <p:nvPr>
                <p:custDataLst>
                  <p:tags r:id="rId86"/>
                </p:custDataLst>
              </p:nvPr>
            </p:nvSpPr>
            <p:spPr>
              <a:xfrm>
                <a:off x="4832" y="3318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124" name="椭圆 123"/>
              <p:cNvSpPr/>
              <p:nvPr>
                <p:custDataLst>
                  <p:tags r:id="rId87"/>
                </p:custDataLst>
              </p:nvPr>
            </p:nvSpPr>
            <p:spPr>
              <a:xfrm>
                <a:off x="5108" y="2859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</p:grpSp>
        <p:sp>
          <p:nvSpPr>
            <p:cNvPr id="107" name="椭圆 106"/>
            <p:cNvSpPr/>
            <p:nvPr>
              <p:custDataLst>
                <p:tags r:id="rId88"/>
              </p:custDataLst>
            </p:nvPr>
          </p:nvSpPr>
          <p:spPr>
            <a:xfrm>
              <a:off x="12440" y="4333"/>
              <a:ext cx="142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108" name="圆角矩形 42"/>
            <p:cNvSpPr/>
            <p:nvPr>
              <p:custDataLst>
                <p:tags r:id="rId89"/>
              </p:custDataLst>
            </p:nvPr>
          </p:nvSpPr>
          <p:spPr>
            <a:xfrm>
              <a:off x="12532" y="4302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kern="0" dirty="0">
                  <a:solidFill>
                    <a:schemeClr val="tx1"/>
                  </a:solidFill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+mn-ea"/>
                </a:rPr>
                <a:t>……</a:t>
              </a:r>
              <a:endParaRPr lang="zh-CN" altLang="en-US" sz="1200" kern="0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0203815" y="2559050"/>
            <a:ext cx="2183130" cy="1254760"/>
            <a:chOff x="16361" y="4620"/>
            <a:chExt cx="3438" cy="1976"/>
          </a:xfrm>
        </p:grpSpPr>
        <p:sp>
          <p:nvSpPr>
            <p:cNvPr id="534" name="椭圆 533"/>
            <p:cNvSpPr/>
            <p:nvPr>
              <p:custDataLst>
                <p:tags r:id="rId90"/>
              </p:custDataLst>
            </p:nvPr>
          </p:nvSpPr>
          <p:spPr>
            <a:xfrm>
              <a:off x="16569" y="5158"/>
              <a:ext cx="1130" cy="1130"/>
            </a:xfrm>
            <a:prstGeom prst="ellipse">
              <a:avLst/>
            </a:prstGeom>
            <a:gradFill>
              <a:gsLst>
                <a:gs pos="0">
                  <a:srgbClr val="47BCFF"/>
                </a:gs>
                <a:gs pos="100000">
                  <a:srgbClr val="007EC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+mn-ea"/>
              </a:endParaRPr>
            </a:p>
          </p:txBody>
        </p:sp>
        <p:sp>
          <p:nvSpPr>
            <p:cNvPr id="535" name="文本框 534"/>
            <p:cNvSpPr txBox="1"/>
            <p:nvPr>
              <p:custDataLst>
                <p:tags r:id="rId91"/>
              </p:custDataLst>
            </p:nvPr>
          </p:nvSpPr>
          <p:spPr>
            <a:xfrm>
              <a:off x="16541" y="5522"/>
              <a:ext cx="120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b="1" kern="0" dirty="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隐形未</a:t>
              </a:r>
              <a:r>
                <a:rPr lang="zh-CN" altLang="en-US" sz="1000" b="1" kern="0" dirty="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决</a:t>
              </a:r>
              <a:endParaRPr lang="zh-CN" altLang="en-US" sz="1000" b="1" kern="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24" name="圆角矩形 217"/>
            <p:cNvSpPr/>
            <p:nvPr>
              <p:custDataLst>
                <p:tags r:id="rId92"/>
              </p:custDataLst>
            </p:nvPr>
          </p:nvSpPr>
          <p:spPr>
            <a:xfrm>
              <a:off x="17347" y="4620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隐性问题智能捕捉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525" name="圆角矩形 218"/>
            <p:cNvSpPr/>
            <p:nvPr>
              <p:custDataLst>
                <p:tags r:id="rId93"/>
              </p:custDataLst>
            </p:nvPr>
          </p:nvSpPr>
          <p:spPr>
            <a:xfrm>
              <a:off x="17739" y="5014"/>
              <a:ext cx="194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待确认事项自动标注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526" name="圆角矩形 219"/>
            <p:cNvSpPr/>
            <p:nvPr>
              <p:custDataLst>
                <p:tags r:id="rId94"/>
              </p:custDataLst>
            </p:nvPr>
          </p:nvSpPr>
          <p:spPr>
            <a:xfrm>
              <a:off x="18030" y="5406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遗漏议题提醒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527" name="圆角矩形 220"/>
            <p:cNvSpPr/>
            <p:nvPr>
              <p:custDataLst>
                <p:tags r:id="rId95"/>
              </p:custDataLst>
            </p:nvPr>
          </p:nvSpPr>
          <p:spPr>
            <a:xfrm>
              <a:off x="17919" y="5799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跟进事项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grpSp>
          <p:nvGrpSpPr>
            <p:cNvPr id="528" name="组合 527"/>
            <p:cNvGrpSpPr/>
            <p:nvPr/>
          </p:nvGrpSpPr>
          <p:grpSpPr>
            <a:xfrm>
              <a:off x="16361" y="4882"/>
              <a:ext cx="1634" cy="1616"/>
              <a:chOff x="3445" y="1790"/>
              <a:chExt cx="1826" cy="1806"/>
            </a:xfrm>
          </p:grpSpPr>
          <p:sp>
            <p:nvSpPr>
              <p:cNvPr id="529" name="椭圆 528"/>
              <p:cNvSpPr/>
              <p:nvPr>
                <p:custDataLst>
                  <p:tags r:id="rId96"/>
                </p:custDataLst>
              </p:nvPr>
            </p:nvSpPr>
            <p:spPr>
              <a:xfrm>
                <a:off x="3445" y="1878"/>
                <a:ext cx="1718" cy="1718"/>
              </a:xfrm>
              <a:prstGeom prst="ellipse">
                <a:avLst/>
              </a:prstGeom>
              <a:noFill/>
              <a:ln>
                <a:solidFill>
                  <a:srgbClr val="2FCCFF">
                    <a:alpha val="25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530" name="椭圆 529"/>
              <p:cNvSpPr/>
              <p:nvPr>
                <p:custDataLst>
                  <p:tags r:id="rId97"/>
                </p:custDataLst>
              </p:nvPr>
            </p:nvSpPr>
            <p:spPr>
              <a:xfrm>
                <a:off x="4428" y="1790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531" name="椭圆 530"/>
              <p:cNvSpPr/>
              <p:nvPr>
                <p:custDataLst>
                  <p:tags r:id="rId98"/>
                </p:custDataLst>
              </p:nvPr>
            </p:nvSpPr>
            <p:spPr>
              <a:xfrm>
                <a:off x="4848" y="2098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532" name="椭圆 531"/>
              <p:cNvSpPr/>
              <p:nvPr>
                <p:custDataLst>
                  <p:tags r:id="rId99"/>
                </p:custDataLst>
              </p:nvPr>
            </p:nvSpPr>
            <p:spPr>
              <a:xfrm>
                <a:off x="5112" y="2501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533" name="椭圆 532"/>
              <p:cNvSpPr/>
              <p:nvPr>
                <p:custDataLst>
                  <p:tags r:id="rId100"/>
                </p:custDataLst>
              </p:nvPr>
            </p:nvSpPr>
            <p:spPr>
              <a:xfrm>
                <a:off x="5008" y="2986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</p:grpSp>
        <p:sp>
          <p:nvSpPr>
            <p:cNvPr id="518" name="椭圆 517"/>
            <p:cNvSpPr/>
            <p:nvPr>
              <p:custDataLst>
                <p:tags r:id="rId101"/>
              </p:custDataLst>
            </p:nvPr>
          </p:nvSpPr>
          <p:spPr>
            <a:xfrm>
              <a:off x="17484" y="6276"/>
              <a:ext cx="142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519" name="圆角矩形 45"/>
            <p:cNvSpPr/>
            <p:nvPr>
              <p:custDataLst>
                <p:tags r:id="rId102"/>
              </p:custDataLst>
            </p:nvPr>
          </p:nvSpPr>
          <p:spPr>
            <a:xfrm>
              <a:off x="17559" y="6192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kern="0" dirty="0">
                  <a:solidFill>
                    <a:schemeClr val="tx1"/>
                  </a:solidFill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+mn-ea"/>
                </a:rPr>
                <a:t>……</a:t>
              </a:r>
              <a:endParaRPr lang="zh-CN" altLang="en-US" sz="1200" kern="0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8181975" y="2663190"/>
            <a:ext cx="2106930" cy="1124585"/>
            <a:chOff x="13177" y="4784"/>
            <a:chExt cx="3318" cy="1771"/>
          </a:xfrm>
        </p:grpSpPr>
        <p:sp>
          <p:nvSpPr>
            <p:cNvPr id="569" name="椭圆 568"/>
            <p:cNvSpPr/>
            <p:nvPr>
              <p:custDataLst>
                <p:tags r:id="rId103"/>
              </p:custDataLst>
            </p:nvPr>
          </p:nvSpPr>
          <p:spPr>
            <a:xfrm>
              <a:off x="13385" y="5120"/>
              <a:ext cx="1134" cy="1130"/>
            </a:xfrm>
            <a:prstGeom prst="ellipse">
              <a:avLst/>
            </a:prstGeom>
            <a:gradFill>
              <a:gsLst>
                <a:gs pos="0">
                  <a:srgbClr val="47BCFF"/>
                </a:gs>
                <a:gs pos="100000">
                  <a:srgbClr val="007EC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+mn-ea"/>
              </a:endParaRPr>
            </a:p>
          </p:txBody>
        </p:sp>
        <p:sp>
          <p:nvSpPr>
            <p:cNvPr id="570" name="文本框 569"/>
            <p:cNvSpPr txBox="1"/>
            <p:nvPr>
              <p:custDataLst>
                <p:tags r:id="rId104"/>
              </p:custDataLst>
            </p:nvPr>
          </p:nvSpPr>
          <p:spPr>
            <a:xfrm>
              <a:off x="13340" y="5326"/>
              <a:ext cx="1210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b="1" kern="0" dirty="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结构化纪要生成</a:t>
              </a:r>
              <a:endParaRPr lang="zh-CN" altLang="en-US" sz="1050" b="1" kern="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41" name="圆角矩形 116"/>
            <p:cNvSpPr/>
            <p:nvPr>
              <p:custDataLst>
                <p:tags r:id="rId105"/>
              </p:custDataLst>
            </p:nvPr>
          </p:nvSpPr>
          <p:spPr>
            <a:xfrm>
              <a:off x="14460" y="4784"/>
              <a:ext cx="1774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标准化纪要模板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542" name="圆角矩形 117"/>
            <p:cNvSpPr/>
            <p:nvPr>
              <p:custDataLst>
                <p:tags r:id="rId106"/>
              </p:custDataLst>
            </p:nvPr>
          </p:nvSpPr>
          <p:spPr>
            <a:xfrm>
              <a:off x="14721" y="5160"/>
              <a:ext cx="1774" cy="40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多维度内容分类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543" name="圆角矩形 118"/>
            <p:cNvSpPr/>
            <p:nvPr>
              <p:custDataLst>
                <p:tags r:id="rId107"/>
              </p:custDataLst>
            </p:nvPr>
          </p:nvSpPr>
          <p:spPr>
            <a:xfrm>
              <a:off x="14721" y="5534"/>
              <a:ext cx="1774" cy="40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自适应</a:t>
              </a: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导出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544" name="圆角矩形 119"/>
            <p:cNvSpPr/>
            <p:nvPr>
              <p:custDataLst>
                <p:tags r:id="rId108"/>
              </p:custDataLst>
            </p:nvPr>
          </p:nvSpPr>
          <p:spPr>
            <a:xfrm>
              <a:off x="14670" y="5908"/>
              <a:ext cx="1774" cy="40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纪要内容智能校对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551" name="椭圆 550"/>
            <p:cNvSpPr/>
            <p:nvPr>
              <p:custDataLst>
                <p:tags r:id="rId109"/>
              </p:custDataLst>
            </p:nvPr>
          </p:nvSpPr>
          <p:spPr>
            <a:xfrm>
              <a:off x="13177" y="4923"/>
              <a:ext cx="1542" cy="1537"/>
            </a:xfrm>
            <a:prstGeom prst="ellipse">
              <a:avLst/>
            </a:prstGeom>
            <a:noFill/>
            <a:ln>
              <a:solidFill>
                <a:srgbClr val="2FCCFF">
                  <a:alpha val="25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565" name="椭圆 564"/>
            <p:cNvSpPr/>
            <p:nvPr>
              <p:custDataLst>
                <p:tags r:id="rId110"/>
              </p:custDataLst>
            </p:nvPr>
          </p:nvSpPr>
          <p:spPr>
            <a:xfrm>
              <a:off x="14318" y="4923"/>
              <a:ext cx="143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566" name="椭圆 565"/>
            <p:cNvSpPr/>
            <p:nvPr>
              <p:custDataLst>
                <p:tags r:id="rId111"/>
              </p:custDataLst>
            </p:nvPr>
          </p:nvSpPr>
          <p:spPr>
            <a:xfrm>
              <a:off x="14578" y="5266"/>
              <a:ext cx="143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567" name="椭圆 566"/>
            <p:cNvSpPr/>
            <p:nvPr>
              <p:custDataLst>
                <p:tags r:id="rId112"/>
              </p:custDataLst>
            </p:nvPr>
          </p:nvSpPr>
          <p:spPr>
            <a:xfrm>
              <a:off x="14670" y="5662"/>
              <a:ext cx="143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568" name="椭圆 567"/>
            <p:cNvSpPr/>
            <p:nvPr>
              <p:custDataLst>
                <p:tags r:id="rId113"/>
              </p:custDataLst>
            </p:nvPr>
          </p:nvSpPr>
          <p:spPr>
            <a:xfrm>
              <a:off x="14578" y="6009"/>
              <a:ext cx="143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538" name="椭圆 537"/>
            <p:cNvSpPr/>
            <p:nvPr>
              <p:custDataLst>
                <p:tags r:id="rId114"/>
              </p:custDataLst>
            </p:nvPr>
          </p:nvSpPr>
          <p:spPr>
            <a:xfrm>
              <a:off x="14326" y="6242"/>
              <a:ext cx="142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539" name="圆角矩形 48"/>
            <p:cNvSpPr/>
            <p:nvPr>
              <p:custDataLst>
                <p:tags r:id="rId115"/>
              </p:custDataLst>
            </p:nvPr>
          </p:nvSpPr>
          <p:spPr>
            <a:xfrm>
              <a:off x="14380" y="6151"/>
              <a:ext cx="1774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kern="0" dirty="0">
                  <a:solidFill>
                    <a:schemeClr val="tx1"/>
                  </a:solidFill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+mn-ea"/>
                </a:rPr>
                <a:t>……</a:t>
              </a:r>
              <a:endParaRPr lang="zh-CN" altLang="en-US" sz="1200" kern="0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7323455" y="5548630"/>
            <a:ext cx="2126615" cy="1050925"/>
            <a:chOff x="11825" y="9328"/>
            <a:chExt cx="3349" cy="1655"/>
          </a:xfrm>
        </p:grpSpPr>
        <p:grpSp>
          <p:nvGrpSpPr>
            <p:cNvPr id="575" name="组合 574"/>
            <p:cNvGrpSpPr/>
            <p:nvPr/>
          </p:nvGrpSpPr>
          <p:grpSpPr>
            <a:xfrm>
              <a:off x="11985" y="9534"/>
              <a:ext cx="1206" cy="1130"/>
              <a:chOff x="6347" y="762"/>
              <a:chExt cx="1348" cy="1263"/>
            </a:xfrm>
          </p:grpSpPr>
          <p:sp>
            <p:nvSpPr>
              <p:cNvPr id="264" name="椭圆 263"/>
              <p:cNvSpPr/>
              <p:nvPr>
                <p:custDataLst>
                  <p:tags r:id="rId116"/>
                </p:custDataLst>
              </p:nvPr>
            </p:nvSpPr>
            <p:spPr>
              <a:xfrm>
                <a:off x="6395" y="762"/>
                <a:ext cx="1263" cy="1263"/>
              </a:xfrm>
              <a:prstGeom prst="ellipse">
                <a:avLst/>
              </a:prstGeom>
              <a:gradFill>
                <a:gsLst>
                  <a:gs pos="0">
                    <a:srgbClr val="47BCFF"/>
                  </a:gs>
                  <a:gs pos="100000">
                    <a:srgbClr val="007ECA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+mn-ea"/>
                </a:endParaRPr>
              </a:p>
            </p:txBody>
          </p:sp>
          <p:sp>
            <p:nvSpPr>
              <p:cNvPr id="265" name="矩形 264"/>
              <p:cNvSpPr/>
              <p:nvPr>
                <p:custDataLst>
                  <p:tags r:id="rId117"/>
                </p:custDataLst>
              </p:nvPr>
            </p:nvSpPr>
            <p:spPr>
              <a:xfrm>
                <a:off x="6347" y="933"/>
                <a:ext cx="1348" cy="10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00" b="1" kern="0">
                    <a:uFillTx/>
                    <a:sym typeface="Calibri" panose="020F0502020204030204"/>
                  </a:rPr>
                  <a:t>数据安全</a:t>
                </a:r>
                <a:r>
                  <a:rPr lang="zh-CN" altLang="en-US" sz="1000" b="1" kern="0">
                    <a:uFillTx/>
                    <a:sym typeface="Calibri" panose="020F0502020204030204"/>
                  </a:rPr>
                  <a:t>保障</a:t>
                </a:r>
                <a:endParaRPr lang="zh-CN" altLang="en-US" sz="1000" b="1" kern="0">
                  <a:uFillTx/>
                  <a:sym typeface="Calibri" panose="020F0502020204030204"/>
                </a:endParaRPr>
              </a:p>
            </p:txBody>
          </p:sp>
        </p:grpSp>
        <p:sp>
          <p:nvSpPr>
            <p:cNvPr id="256" name="圆角矩形 489"/>
            <p:cNvSpPr/>
            <p:nvPr>
              <p:custDataLst>
                <p:tags r:id="rId118"/>
              </p:custDataLst>
            </p:nvPr>
          </p:nvSpPr>
          <p:spPr>
            <a:xfrm>
              <a:off x="13275" y="9393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全流程数据加密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257" name="圆角矩形 490"/>
            <p:cNvSpPr/>
            <p:nvPr>
              <p:custDataLst>
                <p:tags r:id="rId119"/>
              </p:custDataLst>
            </p:nvPr>
          </p:nvSpPr>
          <p:spPr>
            <a:xfrm>
              <a:off x="13406" y="9788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敏感信息脱敏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258" name="圆角矩形 491"/>
            <p:cNvSpPr/>
            <p:nvPr>
              <p:custDataLst>
                <p:tags r:id="rId120"/>
              </p:custDataLst>
            </p:nvPr>
          </p:nvSpPr>
          <p:spPr>
            <a:xfrm>
              <a:off x="13270" y="10233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防泄露安全管控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grpSp>
          <p:nvGrpSpPr>
            <p:cNvPr id="259" name="组合 258"/>
            <p:cNvGrpSpPr/>
            <p:nvPr/>
          </p:nvGrpSpPr>
          <p:grpSpPr>
            <a:xfrm>
              <a:off x="11825" y="9328"/>
              <a:ext cx="1605" cy="1537"/>
              <a:chOff x="3445" y="1878"/>
              <a:chExt cx="1794" cy="1718"/>
            </a:xfrm>
          </p:grpSpPr>
          <p:sp>
            <p:nvSpPr>
              <p:cNvPr id="260" name="椭圆 259"/>
              <p:cNvSpPr/>
              <p:nvPr>
                <p:custDataLst>
                  <p:tags r:id="rId121"/>
                </p:custDataLst>
              </p:nvPr>
            </p:nvSpPr>
            <p:spPr>
              <a:xfrm>
                <a:off x="3445" y="1878"/>
                <a:ext cx="1718" cy="1718"/>
              </a:xfrm>
              <a:prstGeom prst="ellipse">
                <a:avLst/>
              </a:prstGeom>
              <a:noFill/>
              <a:ln>
                <a:solidFill>
                  <a:srgbClr val="2FCCFF">
                    <a:alpha val="25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261" name="椭圆 260"/>
              <p:cNvSpPr/>
              <p:nvPr>
                <p:custDataLst>
                  <p:tags r:id="rId122"/>
                </p:custDataLst>
              </p:nvPr>
            </p:nvSpPr>
            <p:spPr>
              <a:xfrm>
                <a:off x="5080" y="2557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262" name="椭圆 261"/>
              <p:cNvSpPr/>
              <p:nvPr>
                <p:custDataLst>
                  <p:tags r:id="rId123"/>
                </p:custDataLst>
              </p:nvPr>
            </p:nvSpPr>
            <p:spPr>
              <a:xfrm>
                <a:off x="4998" y="3027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263" name="椭圆 262"/>
              <p:cNvSpPr/>
              <p:nvPr>
                <p:custDataLst>
                  <p:tags r:id="rId124"/>
                </p:custDataLst>
              </p:nvPr>
            </p:nvSpPr>
            <p:spPr>
              <a:xfrm>
                <a:off x="4658" y="3391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</p:grpSp>
        <p:sp>
          <p:nvSpPr>
            <p:cNvPr id="573" name="椭圆 572"/>
            <p:cNvSpPr/>
            <p:nvPr>
              <p:custDataLst>
                <p:tags r:id="rId125"/>
              </p:custDataLst>
            </p:nvPr>
          </p:nvSpPr>
          <p:spPr>
            <a:xfrm>
              <a:off x="13120" y="9541"/>
              <a:ext cx="142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574" name="圆角矩形 53"/>
            <p:cNvSpPr/>
            <p:nvPr>
              <p:custDataLst>
                <p:tags r:id="rId126"/>
              </p:custDataLst>
            </p:nvPr>
          </p:nvSpPr>
          <p:spPr>
            <a:xfrm>
              <a:off x="12988" y="10579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200" kern="0" dirty="0">
                  <a:solidFill>
                    <a:schemeClr val="tx1"/>
                  </a:solidFill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+mn-ea"/>
                </a:rPr>
                <a:t>……</a:t>
              </a:r>
              <a:endParaRPr lang="zh-CN" altLang="en-US" sz="1200" kern="0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8067040" y="4129405"/>
            <a:ext cx="2093595" cy="1155065"/>
            <a:chOff x="12996" y="7093"/>
            <a:chExt cx="3297" cy="1819"/>
          </a:xfrm>
        </p:grpSpPr>
        <p:sp>
          <p:nvSpPr>
            <p:cNvPr id="299" name="椭圆 298"/>
            <p:cNvSpPr/>
            <p:nvPr>
              <p:custDataLst>
                <p:tags r:id="rId127"/>
              </p:custDataLst>
            </p:nvPr>
          </p:nvSpPr>
          <p:spPr>
            <a:xfrm>
              <a:off x="13199" y="7581"/>
              <a:ext cx="1130" cy="1130"/>
            </a:xfrm>
            <a:prstGeom prst="ellipse">
              <a:avLst/>
            </a:prstGeom>
            <a:gradFill>
              <a:gsLst>
                <a:gs pos="0">
                  <a:srgbClr val="47BCFF"/>
                </a:gs>
                <a:gs pos="100000">
                  <a:srgbClr val="007EC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+mn-ea"/>
              </a:endParaRPr>
            </a:p>
          </p:txBody>
        </p:sp>
        <p:sp>
          <p:nvSpPr>
            <p:cNvPr id="300" name="文本框 299"/>
            <p:cNvSpPr txBox="1"/>
            <p:nvPr>
              <p:custDataLst>
                <p:tags r:id="rId128"/>
              </p:custDataLst>
            </p:nvPr>
          </p:nvSpPr>
          <p:spPr>
            <a:xfrm>
              <a:off x="13163" y="7745"/>
              <a:ext cx="120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000" b="1" kern="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Calibri" panose="020F0502020204030204"/>
              </a:endParaRPr>
            </a:p>
          </p:txBody>
        </p:sp>
        <p:sp>
          <p:nvSpPr>
            <p:cNvPr id="289" name="圆角矩形 563"/>
            <p:cNvSpPr/>
            <p:nvPr>
              <p:custDataLst>
                <p:tags r:id="rId129"/>
              </p:custDataLst>
            </p:nvPr>
          </p:nvSpPr>
          <p:spPr>
            <a:xfrm>
              <a:off x="13967" y="7093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多端协同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290" name="圆角矩形 564"/>
            <p:cNvSpPr/>
            <p:nvPr>
              <p:custDataLst>
                <p:tags r:id="rId130"/>
              </p:custDataLst>
            </p:nvPr>
          </p:nvSpPr>
          <p:spPr>
            <a:xfrm>
              <a:off x="14374" y="7471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内容合并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291" name="圆角矩形 565"/>
            <p:cNvSpPr/>
            <p:nvPr>
              <p:custDataLst>
                <p:tags r:id="rId131"/>
              </p:custDataLst>
            </p:nvPr>
          </p:nvSpPr>
          <p:spPr>
            <a:xfrm>
              <a:off x="14500" y="7849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多人</a:t>
              </a: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查看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grpSp>
          <p:nvGrpSpPr>
            <p:cNvPr id="292" name="组合 291"/>
            <p:cNvGrpSpPr/>
            <p:nvPr/>
          </p:nvGrpSpPr>
          <p:grpSpPr>
            <a:xfrm>
              <a:off x="12996" y="7305"/>
              <a:ext cx="1598" cy="1607"/>
              <a:chOff x="3445" y="1800"/>
              <a:chExt cx="1786" cy="1796"/>
            </a:xfrm>
          </p:grpSpPr>
          <p:sp>
            <p:nvSpPr>
              <p:cNvPr id="294" name="椭圆 293"/>
              <p:cNvSpPr/>
              <p:nvPr>
                <p:custDataLst>
                  <p:tags r:id="rId132"/>
                </p:custDataLst>
              </p:nvPr>
            </p:nvSpPr>
            <p:spPr>
              <a:xfrm>
                <a:off x="3445" y="1878"/>
                <a:ext cx="1718" cy="1718"/>
              </a:xfrm>
              <a:prstGeom prst="ellipse">
                <a:avLst/>
              </a:prstGeom>
              <a:noFill/>
              <a:ln>
                <a:solidFill>
                  <a:srgbClr val="2FCCFF">
                    <a:alpha val="25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 b="1" kern="0" dirty="0">
                    <a:solidFill>
                      <a:schemeClr val="bg1"/>
                    </a:solidFill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Calibri" panose="020F0502020204030204"/>
                  </a:rPr>
                  <a:t>多人协作</a:t>
                </a:r>
                <a:endParaRPr lang="zh-CN" altLang="en-US" sz="1200" b="1" kern="0" dirty="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Calibri" panose="020F0502020204030204"/>
                </a:endParaRPr>
              </a:p>
            </p:txBody>
          </p:sp>
          <p:sp>
            <p:nvSpPr>
              <p:cNvPr id="295" name="椭圆 294"/>
              <p:cNvSpPr/>
              <p:nvPr>
                <p:custDataLst>
                  <p:tags r:id="rId133"/>
                </p:custDataLst>
              </p:nvPr>
            </p:nvSpPr>
            <p:spPr>
              <a:xfrm>
                <a:off x="4472" y="1800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296" name="椭圆 295"/>
              <p:cNvSpPr/>
              <p:nvPr>
                <p:custDataLst>
                  <p:tags r:id="rId134"/>
                </p:custDataLst>
              </p:nvPr>
            </p:nvSpPr>
            <p:spPr>
              <a:xfrm>
                <a:off x="4861" y="2161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297" name="椭圆 296"/>
              <p:cNvSpPr/>
              <p:nvPr>
                <p:custDataLst>
                  <p:tags r:id="rId135"/>
                </p:custDataLst>
              </p:nvPr>
            </p:nvSpPr>
            <p:spPr>
              <a:xfrm>
                <a:off x="5072" y="2647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298" name="椭圆 297"/>
              <p:cNvSpPr/>
              <p:nvPr>
                <p:custDataLst>
                  <p:tags r:id="rId136"/>
                </p:custDataLst>
              </p:nvPr>
            </p:nvSpPr>
            <p:spPr>
              <a:xfrm>
                <a:off x="4967" y="3054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</p:grpSp>
        <p:sp>
          <p:nvSpPr>
            <p:cNvPr id="287" name="圆角矩形 50"/>
            <p:cNvSpPr/>
            <p:nvPr>
              <p:custDataLst>
                <p:tags r:id="rId137"/>
              </p:custDataLst>
            </p:nvPr>
          </p:nvSpPr>
          <p:spPr>
            <a:xfrm>
              <a:off x="14524" y="8359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l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200" kern="0" dirty="0">
                  <a:solidFill>
                    <a:schemeClr val="tx1"/>
                  </a:solidFill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+mn-ea"/>
                </a:rPr>
                <a:t>……</a:t>
              </a:r>
              <a:endParaRPr lang="zh-CN" altLang="en-US" sz="1200" kern="0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285" name="椭圆 284"/>
            <p:cNvSpPr/>
            <p:nvPr>
              <p:custDataLst>
                <p:tags r:id="rId138"/>
              </p:custDataLst>
            </p:nvPr>
          </p:nvSpPr>
          <p:spPr>
            <a:xfrm>
              <a:off x="14142" y="8738"/>
              <a:ext cx="142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</p:grpSp>
      <p:grpSp>
        <p:nvGrpSpPr>
          <p:cNvPr id="327" name="组合 326"/>
          <p:cNvGrpSpPr/>
          <p:nvPr/>
        </p:nvGrpSpPr>
        <p:grpSpPr>
          <a:xfrm>
            <a:off x="-186892" y="1503045"/>
            <a:ext cx="3015182" cy="1033780"/>
            <a:chOff x="3723" y="2905"/>
            <a:chExt cx="4748" cy="1628"/>
          </a:xfrm>
        </p:grpSpPr>
        <p:grpSp>
          <p:nvGrpSpPr>
            <p:cNvPr id="328" name="组合 327"/>
            <p:cNvGrpSpPr/>
            <p:nvPr/>
          </p:nvGrpSpPr>
          <p:grpSpPr>
            <a:xfrm>
              <a:off x="3723" y="2905"/>
              <a:ext cx="4748" cy="1628"/>
              <a:chOff x="3723" y="2905"/>
              <a:chExt cx="4748" cy="1628"/>
            </a:xfrm>
          </p:grpSpPr>
          <p:grpSp>
            <p:nvGrpSpPr>
              <p:cNvPr id="330" name="组合 329"/>
              <p:cNvGrpSpPr/>
              <p:nvPr/>
            </p:nvGrpSpPr>
            <p:grpSpPr>
              <a:xfrm>
                <a:off x="3723" y="2905"/>
                <a:ext cx="4748" cy="1573"/>
                <a:chOff x="-419" y="1747"/>
                <a:chExt cx="5582" cy="1849"/>
              </a:xfrm>
            </p:grpSpPr>
            <p:grpSp>
              <p:nvGrpSpPr>
                <p:cNvPr id="332" name="组合 331"/>
                <p:cNvGrpSpPr/>
                <p:nvPr/>
              </p:nvGrpSpPr>
              <p:grpSpPr>
                <a:xfrm>
                  <a:off x="3627" y="2098"/>
                  <a:ext cx="1348" cy="1263"/>
                  <a:chOff x="6395" y="752"/>
                  <a:chExt cx="1348" cy="1263"/>
                </a:xfrm>
              </p:grpSpPr>
              <p:sp>
                <p:nvSpPr>
                  <p:cNvPr id="344" name="椭圆 343"/>
                  <p:cNvSpPr/>
                  <p:nvPr>
                    <p:custDataLst>
                      <p:tags r:id="rId139"/>
                    </p:custDataLst>
                  </p:nvPr>
                </p:nvSpPr>
                <p:spPr>
                  <a:xfrm>
                    <a:off x="6445" y="752"/>
                    <a:ext cx="1263" cy="1263"/>
                  </a:xfrm>
                  <a:prstGeom prst="ellipse">
                    <a:avLst/>
                  </a:prstGeom>
                  <a:gradFill>
                    <a:gsLst>
                      <a:gs pos="0">
                        <a:srgbClr val="47BCFF"/>
                      </a:gs>
                      <a:gs pos="100000">
                        <a:srgbClr val="007ECA"/>
                      </a:gs>
                    </a:gsLst>
                    <a:lin ang="54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54405" hangingPunct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endParaRPr lang="zh-CN" altLang="en-US" sz="1890" kern="0">
                      <a:uFillTx/>
                      <a:sym typeface="Calibri" panose="020F0502020204030204"/>
                    </a:endParaRPr>
                  </a:p>
                </p:txBody>
              </p:sp>
              <p:sp>
                <p:nvSpPr>
                  <p:cNvPr id="345" name="文本框 344"/>
                  <p:cNvSpPr txBox="1"/>
                  <p:nvPr>
                    <p:custDataLst>
                      <p:tags r:id="rId140"/>
                    </p:custDataLst>
                  </p:nvPr>
                </p:nvSpPr>
                <p:spPr>
                  <a:xfrm>
                    <a:off x="6395" y="1006"/>
                    <a:ext cx="1348" cy="7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 defTabSz="954405" hangingPunct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zh-CN" altLang="en-US" sz="1000" b="1" kern="0" dirty="0">
                        <a:solidFill>
                          <a:schemeClr val="bg1"/>
                        </a:solidFill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  <a:sym typeface="+mn-lt"/>
                      </a:rPr>
                      <a:t>实时编辑与修正</a:t>
                    </a:r>
                    <a:endParaRPr lang="zh-CN" altLang="en-US" sz="1000" b="1" kern="0" dirty="0">
                      <a:solidFill>
                        <a:schemeClr val="bg1"/>
                      </a:solidFill>
                      <a:uFillTx/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33" name="圆角矩形 435"/>
                <p:cNvSpPr/>
                <p:nvPr>
                  <p:custDataLst>
                    <p:tags r:id="rId141"/>
                  </p:custDataLst>
                </p:nvPr>
              </p:nvSpPr>
              <p:spPr>
                <a:xfrm>
                  <a:off x="1196" y="1747"/>
                  <a:ext cx="2625" cy="452"/>
                </a:xfrm>
                <a:prstGeom prst="roundRect">
                  <a:avLst>
                    <a:gd name="adj" fmla="val 50000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 defTabSz="954405" hangingPunct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840" kern="0" dirty="0">
                      <a:solidFill>
                        <a:schemeClr val="tx1"/>
                      </a:solidFill>
                      <a:uFillTx/>
                      <a:latin typeface="+mj-ea"/>
                      <a:ea typeface="+mj-ea"/>
                      <a:sym typeface="+mn-ea"/>
                    </a:rPr>
                    <a:t>转写内容实时修改</a:t>
                  </a:r>
                  <a:endParaRPr lang="zh-CN" altLang="en-US" sz="840" kern="0" dirty="0">
                    <a:solidFill>
                      <a:schemeClr val="tx1"/>
                    </a:solidFill>
                    <a:uFillTx/>
                    <a:latin typeface="+mj-ea"/>
                    <a:ea typeface="+mj-ea"/>
                    <a:sym typeface="+mn-ea"/>
                  </a:endParaRPr>
                </a:p>
              </p:txBody>
            </p:sp>
            <p:sp>
              <p:nvSpPr>
                <p:cNvPr id="334" name="圆角矩形 436"/>
                <p:cNvSpPr/>
                <p:nvPr>
                  <p:custDataLst>
                    <p:tags r:id="rId142"/>
                  </p:custDataLst>
                </p:nvPr>
              </p:nvSpPr>
              <p:spPr>
                <a:xfrm>
                  <a:off x="-419" y="2300"/>
                  <a:ext cx="3292" cy="451"/>
                </a:xfrm>
                <a:prstGeom prst="roundRect">
                  <a:avLst>
                    <a:gd name="adj" fmla="val 50000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 defTabSz="954405" hangingPunct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840" kern="0" dirty="0">
                      <a:solidFill>
                        <a:schemeClr val="tx1"/>
                      </a:solidFill>
                      <a:uFillTx/>
                      <a:latin typeface="+mj-ea"/>
                      <a:ea typeface="+mj-ea"/>
                      <a:sym typeface="+mn-ea"/>
                    </a:rPr>
                    <a:t>补充遗漏</a:t>
                  </a:r>
                  <a:r>
                    <a:rPr lang="zh-CN" altLang="en-US" sz="840" kern="0" dirty="0">
                      <a:solidFill>
                        <a:schemeClr val="tx1"/>
                      </a:solidFill>
                      <a:uFillTx/>
                      <a:latin typeface="+mj-ea"/>
                      <a:ea typeface="+mj-ea"/>
                      <a:sym typeface="+mn-ea"/>
                    </a:rPr>
                    <a:t>内容</a:t>
                  </a:r>
                  <a:endParaRPr lang="zh-CN" altLang="en-US" sz="840" kern="0" dirty="0">
                    <a:solidFill>
                      <a:schemeClr val="tx1"/>
                    </a:solidFill>
                    <a:uFillTx/>
                    <a:latin typeface="+mj-ea"/>
                    <a:ea typeface="+mj-ea"/>
                    <a:sym typeface="+mn-ea"/>
                  </a:endParaRPr>
                </a:p>
              </p:txBody>
            </p:sp>
            <p:sp>
              <p:nvSpPr>
                <p:cNvPr id="335" name="圆角矩形 437"/>
                <p:cNvSpPr/>
                <p:nvPr>
                  <p:custDataLst>
                    <p:tags r:id="rId143"/>
                  </p:custDataLst>
                </p:nvPr>
              </p:nvSpPr>
              <p:spPr>
                <a:xfrm>
                  <a:off x="1037" y="2742"/>
                  <a:ext cx="2402" cy="451"/>
                </a:xfrm>
                <a:prstGeom prst="roundRect">
                  <a:avLst>
                    <a:gd name="adj" fmla="val 50000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 defTabSz="954405" hangingPunct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840" kern="0" dirty="0">
                      <a:solidFill>
                        <a:schemeClr val="tx1"/>
                      </a:solidFill>
                      <a:uFillTx/>
                      <a:latin typeface="+mj-ea"/>
                      <a:ea typeface="+mj-ea"/>
                      <a:sym typeface="+mn-ea"/>
                    </a:rPr>
                    <a:t>编辑历史回溯</a:t>
                  </a:r>
                  <a:endParaRPr lang="zh-CN" altLang="en-US" sz="840" kern="0" dirty="0">
                    <a:solidFill>
                      <a:schemeClr val="tx1"/>
                    </a:solidFill>
                    <a:uFillTx/>
                    <a:latin typeface="+mj-ea"/>
                    <a:ea typeface="+mj-ea"/>
                    <a:sym typeface="+mn-ea"/>
                  </a:endParaRPr>
                </a:p>
              </p:txBody>
            </p:sp>
            <p:grpSp>
              <p:nvGrpSpPr>
                <p:cNvPr id="336" name="组合 335"/>
                <p:cNvGrpSpPr/>
                <p:nvPr/>
              </p:nvGrpSpPr>
              <p:grpSpPr>
                <a:xfrm>
                  <a:off x="3371" y="1878"/>
                  <a:ext cx="1792" cy="1718"/>
                  <a:chOff x="3371" y="1878"/>
                  <a:chExt cx="1792" cy="1718"/>
                </a:xfrm>
              </p:grpSpPr>
              <p:sp>
                <p:nvSpPr>
                  <p:cNvPr id="337" name="椭圆 336"/>
                  <p:cNvSpPr/>
                  <p:nvPr>
                    <p:custDataLst>
                      <p:tags r:id="rId144"/>
                    </p:custDataLst>
                  </p:nvPr>
                </p:nvSpPr>
                <p:spPr>
                  <a:xfrm>
                    <a:off x="3445" y="1878"/>
                    <a:ext cx="1718" cy="1718"/>
                  </a:xfrm>
                  <a:prstGeom prst="ellipse">
                    <a:avLst/>
                  </a:prstGeom>
                  <a:noFill/>
                  <a:ln>
                    <a:solidFill>
                      <a:srgbClr val="2FCCFF">
                        <a:alpha val="25000"/>
                      </a:srgb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54405" hangingPunct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endParaRPr lang="zh-CN" altLang="en-US" sz="1890" kern="0">
                      <a:uFillTx/>
                      <a:sym typeface="Calibri" panose="020F0502020204030204"/>
                    </a:endParaRPr>
                  </a:p>
                </p:txBody>
              </p:sp>
              <p:sp>
                <p:nvSpPr>
                  <p:cNvPr id="338" name="椭圆 337"/>
                  <p:cNvSpPr/>
                  <p:nvPr>
                    <p:custDataLst>
                      <p:tags r:id="rId145"/>
                    </p:custDataLst>
                  </p:nvPr>
                </p:nvSpPr>
                <p:spPr>
                  <a:xfrm>
                    <a:off x="3821" y="1878"/>
                    <a:ext cx="159" cy="159"/>
                  </a:xfrm>
                  <a:prstGeom prst="ellipse">
                    <a:avLst/>
                  </a:prstGeom>
                  <a:solidFill>
                    <a:schemeClr val="bg1"/>
                  </a:solidFill>
                  <a:ln w="22225">
                    <a:solidFill>
                      <a:srgbClr val="2FCCFF">
                        <a:alpha val="40000"/>
                      </a:srgb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54405" hangingPunct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endParaRPr lang="zh-CN" altLang="en-US" sz="1890" kern="0">
                      <a:uFillTx/>
                      <a:sym typeface="Calibri" panose="020F0502020204030204"/>
                    </a:endParaRPr>
                  </a:p>
                </p:txBody>
              </p:sp>
              <p:sp>
                <p:nvSpPr>
                  <p:cNvPr id="339" name="椭圆 338"/>
                  <p:cNvSpPr/>
                  <p:nvPr>
                    <p:custDataLst>
                      <p:tags r:id="rId146"/>
                    </p:custDataLst>
                  </p:nvPr>
                </p:nvSpPr>
                <p:spPr>
                  <a:xfrm>
                    <a:off x="3371" y="2411"/>
                    <a:ext cx="159" cy="159"/>
                  </a:xfrm>
                  <a:prstGeom prst="ellipse">
                    <a:avLst/>
                  </a:prstGeom>
                  <a:solidFill>
                    <a:schemeClr val="bg1"/>
                  </a:solidFill>
                  <a:ln w="22225">
                    <a:solidFill>
                      <a:srgbClr val="2FCCFF">
                        <a:alpha val="40000"/>
                      </a:srgb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54405" hangingPunct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endParaRPr lang="zh-CN" altLang="en-US" sz="1890" kern="0">
                      <a:uFillTx/>
                      <a:sym typeface="Calibri" panose="020F0502020204030204"/>
                    </a:endParaRPr>
                  </a:p>
                </p:txBody>
              </p:sp>
              <p:sp>
                <p:nvSpPr>
                  <p:cNvPr id="343" name="椭圆 342"/>
                  <p:cNvSpPr/>
                  <p:nvPr>
                    <p:custDataLst>
                      <p:tags r:id="rId147"/>
                    </p:custDataLst>
                  </p:nvPr>
                </p:nvSpPr>
                <p:spPr>
                  <a:xfrm>
                    <a:off x="3371" y="2930"/>
                    <a:ext cx="159" cy="159"/>
                  </a:xfrm>
                  <a:prstGeom prst="ellipse">
                    <a:avLst/>
                  </a:prstGeom>
                  <a:solidFill>
                    <a:schemeClr val="bg1"/>
                  </a:solidFill>
                  <a:ln w="22225">
                    <a:solidFill>
                      <a:srgbClr val="2FCCFF">
                        <a:alpha val="40000"/>
                      </a:srgb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954405" hangingPunct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endParaRPr lang="zh-CN" altLang="en-US" sz="1890" kern="0">
                      <a:uFillTx/>
                      <a:sym typeface="Calibri" panose="020F0502020204030204"/>
                    </a:endParaRPr>
                  </a:p>
                </p:txBody>
              </p:sp>
            </p:grpSp>
          </p:grpSp>
          <p:sp>
            <p:nvSpPr>
              <p:cNvPr id="331" name="圆角矩形 20"/>
              <p:cNvSpPr/>
              <p:nvPr>
                <p:custDataLst>
                  <p:tags r:id="rId148"/>
                </p:custDataLst>
              </p:nvPr>
            </p:nvSpPr>
            <p:spPr>
              <a:xfrm>
                <a:off x="5121" y="4149"/>
                <a:ext cx="2043" cy="384"/>
              </a:xfrm>
              <a:prstGeom prst="roundRect">
                <a:avLst>
                  <a:gd name="adj" fmla="val 5000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200" kern="0" dirty="0">
                    <a:solidFill>
                      <a:schemeClr val="tx1"/>
                    </a:solidFill>
                    <a:uFillTx/>
                    <a:latin typeface="Arial" panose="020B0604020202020204" pitchFamily="34" charset="0"/>
                    <a:ea typeface="+mj-ea"/>
                    <a:cs typeface="Arial" panose="020B0604020202020204" pitchFamily="34" charset="0"/>
                    <a:sym typeface="+mn-ea"/>
                  </a:rPr>
                  <a:t>……</a:t>
                </a:r>
                <a:endParaRPr lang="zh-CN" altLang="en-US" sz="1200" kern="0" dirty="0">
                  <a:solidFill>
                    <a:schemeClr val="tx1"/>
                  </a:solidFill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+mn-ea"/>
                </a:endParaRPr>
              </a:p>
            </p:txBody>
          </p:sp>
        </p:grpSp>
        <p:sp>
          <p:nvSpPr>
            <p:cNvPr id="329" name="椭圆 328"/>
            <p:cNvSpPr/>
            <p:nvPr>
              <p:custDataLst>
                <p:tags r:id="rId149"/>
              </p:custDataLst>
            </p:nvPr>
          </p:nvSpPr>
          <p:spPr>
            <a:xfrm>
              <a:off x="7164" y="4247"/>
              <a:ext cx="135" cy="135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1343660" y="5454015"/>
            <a:ext cx="2617470" cy="1229360"/>
            <a:chOff x="2408" y="9179"/>
            <a:chExt cx="4122" cy="1936"/>
          </a:xfrm>
        </p:grpSpPr>
        <p:sp>
          <p:nvSpPr>
            <p:cNvPr id="365" name="椭圆 364"/>
            <p:cNvSpPr/>
            <p:nvPr>
              <p:custDataLst>
                <p:tags r:id="rId150"/>
              </p:custDataLst>
            </p:nvPr>
          </p:nvSpPr>
          <p:spPr>
            <a:xfrm>
              <a:off x="5266" y="9479"/>
              <a:ext cx="1075" cy="1075"/>
            </a:xfrm>
            <a:prstGeom prst="ellipse">
              <a:avLst/>
            </a:prstGeom>
            <a:gradFill>
              <a:gsLst>
                <a:gs pos="0">
                  <a:srgbClr val="47BCFF"/>
                </a:gs>
                <a:gs pos="100000">
                  <a:srgbClr val="007EC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+mn-ea"/>
              </a:endParaRPr>
            </a:p>
          </p:txBody>
        </p:sp>
        <p:sp>
          <p:nvSpPr>
            <p:cNvPr id="366" name="文本框 365"/>
            <p:cNvSpPr txBox="1"/>
            <p:nvPr>
              <p:custDataLst>
                <p:tags r:id="rId151"/>
              </p:custDataLst>
            </p:nvPr>
          </p:nvSpPr>
          <p:spPr>
            <a:xfrm>
              <a:off x="5223" y="9702"/>
              <a:ext cx="1147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b="1" kern="0" dirty="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 </a:t>
              </a:r>
              <a:r>
                <a:rPr lang="zh-CN" altLang="en-US" sz="1050" b="1" kern="0" dirty="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多轮对话能力</a:t>
              </a:r>
              <a:endParaRPr lang="zh-CN" altLang="en-US" sz="1050" b="1" kern="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56" name="圆角矩形 76"/>
            <p:cNvSpPr/>
            <p:nvPr>
              <p:custDataLst>
                <p:tags r:id="rId152"/>
              </p:custDataLst>
            </p:nvPr>
          </p:nvSpPr>
          <p:spPr>
            <a:xfrm>
              <a:off x="2408" y="9602"/>
              <a:ext cx="2655" cy="38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r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意图智能识别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357" name="圆角矩形 77"/>
            <p:cNvSpPr/>
            <p:nvPr>
              <p:custDataLst>
                <p:tags r:id="rId153"/>
              </p:custDataLst>
            </p:nvPr>
          </p:nvSpPr>
          <p:spPr>
            <a:xfrm>
              <a:off x="3020" y="10024"/>
              <a:ext cx="2044" cy="38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r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追问引导式交互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grpSp>
          <p:nvGrpSpPr>
            <p:cNvPr id="358" name="组合 357"/>
            <p:cNvGrpSpPr/>
            <p:nvPr/>
          </p:nvGrpSpPr>
          <p:grpSpPr>
            <a:xfrm>
              <a:off x="5005" y="9292"/>
              <a:ext cx="1525" cy="1533"/>
              <a:chOff x="3371" y="1878"/>
              <a:chExt cx="1792" cy="1801"/>
            </a:xfrm>
          </p:grpSpPr>
          <p:sp>
            <p:nvSpPr>
              <p:cNvPr id="360" name="椭圆 359"/>
              <p:cNvSpPr/>
              <p:nvPr>
                <p:custDataLst>
                  <p:tags r:id="rId154"/>
                </p:custDataLst>
              </p:nvPr>
            </p:nvSpPr>
            <p:spPr>
              <a:xfrm>
                <a:off x="3445" y="1878"/>
                <a:ext cx="1718" cy="1718"/>
              </a:xfrm>
              <a:prstGeom prst="ellipse">
                <a:avLst/>
              </a:prstGeom>
              <a:noFill/>
              <a:ln>
                <a:solidFill>
                  <a:srgbClr val="2FCCFF">
                    <a:alpha val="25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361" name="椭圆 360"/>
              <p:cNvSpPr/>
              <p:nvPr>
                <p:custDataLst>
                  <p:tags r:id="rId155"/>
                </p:custDataLst>
              </p:nvPr>
            </p:nvSpPr>
            <p:spPr>
              <a:xfrm>
                <a:off x="3371" y="2411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362" name="椭圆 361"/>
              <p:cNvSpPr/>
              <p:nvPr>
                <p:custDataLst>
                  <p:tags r:id="rId156"/>
                </p:custDataLst>
              </p:nvPr>
            </p:nvSpPr>
            <p:spPr>
              <a:xfrm>
                <a:off x="3371" y="2930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363" name="椭圆 362"/>
              <p:cNvSpPr/>
              <p:nvPr>
                <p:custDataLst>
                  <p:tags r:id="rId157"/>
                </p:custDataLst>
              </p:nvPr>
            </p:nvSpPr>
            <p:spPr>
              <a:xfrm>
                <a:off x="3642" y="3361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364" name="椭圆 363"/>
              <p:cNvSpPr/>
              <p:nvPr>
                <p:custDataLst>
                  <p:tags r:id="rId158"/>
                </p:custDataLst>
              </p:nvPr>
            </p:nvSpPr>
            <p:spPr>
              <a:xfrm>
                <a:off x="4130" y="3520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</p:grpSp>
        <p:sp>
          <p:nvSpPr>
            <p:cNvPr id="359" name="圆角矩形 84"/>
            <p:cNvSpPr/>
            <p:nvPr>
              <p:custDataLst>
                <p:tags r:id="rId159"/>
              </p:custDataLst>
            </p:nvPr>
          </p:nvSpPr>
          <p:spPr>
            <a:xfrm>
              <a:off x="3148" y="10446"/>
              <a:ext cx="2044" cy="38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r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对话历史全量留存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349" name="椭圆 348"/>
            <p:cNvSpPr/>
            <p:nvPr>
              <p:custDataLst>
                <p:tags r:id="rId160"/>
              </p:custDataLst>
            </p:nvPr>
          </p:nvSpPr>
          <p:spPr>
            <a:xfrm>
              <a:off x="5236" y="9359"/>
              <a:ext cx="135" cy="135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350" name="圆角矩形 86"/>
            <p:cNvSpPr/>
            <p:nvPr>
              <p:custDataLst>
                <p:tags r:id="rId161"/>
              </p:custDataLst>
            </p:nvPr>
          </p:nvSpPr>
          <p:spPr>
            <a:xfrm>
              <a:off x="2568" y="9179"/>
              <a:ext cx="2655" cy="38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r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上下文深度理解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351" name="文本框 350"/>
            <p:cNvSpPr txBox="1"/>
            <p:nvPr>
              <p:custDataLst>
                <p:tags r:id="rId162"/>
              </p:custDataLst>
            </p:nvPr>
          </p:nvSpPr>
          <p:spPr>
            <a:xfrm>
              <a:off x="5028" y="10683"/>
              <a:ext cx="1018" cy="43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45719" tIns="45719" rIns="45719" bIns="45719" numCol="1" spcCol="38100" rtlCol="0" anchor="t" forceAA="0">
              <a:spAutoFit/>
            </a:bodyPr>
            <a:lstStyle/>
            <a:p>
              <a:pPr marL="0" marR="0" indent="0" algn="l" defTabSz="95440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200" b="0" i="0" u="none" strike="noStrike" kern="0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 panose="020F0502020204030204"/>
                </a:rPr>
                <a:t>……</a:t>
              </a:r>
              <a:endParaRPr kumimoji="0" lang="zh-CN" altLang="en-US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 panose="020F0502020204030204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9883775" y="5038090"/>
            <a:ext cx="2106930" cy="1124585"/>
            <a:chOff x="16293" y="7206"/>
            <a:chExt cx="3318" cy="1771"/>
          </a:xfrm>
        </p:grpSpPr>
        <p:sp>
          <p:nvSpPr>
            <p:cNvPr id="442" name="椭圆 441"/>
            <p:cNvSpPr/>
            <p:nvPr>
              <p:custDataLst>
                <p:tags r:id="rId163"/>
              </p:custDataLst>
            </p:nvPr>
          </p:nvSpPr>
          <p:spPr>
            <a:xfrm>
              <a:off x="16501" y="7542"/>
              <a:ext cx="1134" cy="1130"/>
            </a:xfrm>
            <a:prstGeom prst="ellipse">
              <a:avLst/>
            </a:prstGeom>
            <a:gradFill>
              <a:gsLst>
                <a:gs pos="0">
                  <a:srgbClr val="47BCFF"/>
                </a:gs>
                <a:gs pos="100000">
                  <a:srgbClr val="007EC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+mn-ea"/>
              </a:endParaRPr>
            </a:p>
          </p:txBody>
        </p:sp>
        <p:sp>
          <p:nvSpPr>
            <p:cNvPr id="443" name="文本框 442"/>
            <p:cNvSpPr txBox="1"/>
            <p:nvPr>
              <p:custDataLst>
                <p:tags r:id="rId164"/>
              </p:custDataLst>
            </p:nvPr>
          </p:nvSpPr>
          <p:spPr>
            <a:xfrm>
              <a:off x="16456" y="7803"/>
              <a:ext cx="121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b="1" kern="0" dirty="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细粒度权限控制</a:t>
              </a:r>
              <a:endParaRPr lang="zh-CN" altLang="en-US" sz="1000" b="1" kern="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410" name="圆角矩形 116"/>
            <p:cNvSpPr/>
            <p:nvPr>
              <p:custDataLst>
                <p:tags r:id="rId165"/>
              </p:custDataLst>
            </p:nvPr>
          </p:nvSpPr>
          <p:spPr>
            <a:xfrm>
              <a:off x="17576" y="7206"/>
              <a:ext cx="1774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角色化权限配置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411" name="圆角矩形 117"/>
            <p:cNvSpPr/>
            <p:nvPr>
              <p:custDataLst>
                <p:tags r:id="rId166"/>
              </p:custDataLst>
            </p:nvPr>
          </p:nvSpPr>
          <p:spPr>
            <a:xfrm>
              <a:off x="17837" y="7582"/>
              <a:ext cx="1774" cy="40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功能权限精准管控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426" name="圆角矩形 118"/>
            <p:cNvSpPr/>
            <p:nvPr>
              <p:custDataLst>
                <p:tags r:id="rId167"/>
              </p:custDataLst>
            </p:nvPr>
          </p:nvSpPr>
          <p:spPr>
            <a:xfrm>
              <a:off x="17837" y="7956"/>
              <a:ext cx="1774" cy="40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数据权限分级管理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427" name="圆角矩形 119"/>
            <p:cNvSpPr/>
            <p:nvPr>
              <p:custDataLst>
                <p:tags r:id="rId168"/>
              </p:custDataLst>
            </p:nvPr>
          </p:nvSpPr>
          <p:spPr>
            <a:xfrm>
              <a:off x="17786" y="8330"/>
              <a:ext cx="1774" cy="40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权限变更实时生效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grpSp>
          <p:nvGrpSpPr>
            <p:cNvPr id="434" name="组合 433"/>
            <p:cNvGrpSpPr/>
            <p:nvPr/>
          </p:nvGrpSpPr>
          <p:grpSpPr>
            <a:xfrm>
              <a:off x="16293" y="7345"/>
              <a:ext cx="1636" cy="1537"/>
              <a:chOff x="3445" y="1878"/>
              <a:chExt cx="1823" cy="1718"/>
            </a:xfrm>
          </p:grpSpPr>
          <p:sp>
            <p:nvSpPr>
              <p:cNvPr id="437" name="椭圆 436"/>
              <p:cNvSpPr/>
              <p:nvPr>
                <p:custDataLst>
                  <p:tags r:id="rId169"/>
                </p:custDataLst>
              </p:nvPr>
            </p:nvSpPr>
            <p:spPr>
              <a:xfrm>
                <a:off x="3445" y="1878"/>
                <a:ext cx="1718" cy="1718"/>
              </a:xfrm>
              <a:prstGeom prst="ellipse">
                <a:avLst/>
              </a:prstGeom>
              <a:noFill/>
              <a:ln>
                <a:solidFill>
                  <a:srgbClr val="2FCCFF">
                    <a:alpha val="25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38" name="椭圆 437"/>
              <p:cNvSpPr/>
              <p:nvPr>
                <p:custDataLst>
                  <p:tags r:id="rId170"/>
                </p:custDataLst>
              </p:nvPr>
            </p:nvSpPr>
            <p:spPr>
              <a:xfrm>
                <a:off x="4638" y="1891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39" name="椭圆 438"/>
              <p:cNvSpPr/>
              <p:nvPr>
                <p:custDataLst>
                  <p:tags r:id="rId171"/>
                </p:custDataLst>
              </p:nvPr>
            </p:nvSpPr>
            <p:spPr>
              <a:xfrm>
                <a:off x="5006" y="2261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40" name="椭圆 439"/>
              <p:cNvSpPr/>
              <p:nvPr>
                <p:custDataLst>
                  <p:tags r:id="rId172"/>
                </p:custDataLst>
              </p:nvPr>
            </p:nvSpPr>
            <p:spPr>
              <a:xfrm>
                <a:off x="5109" y="2704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  <p:sp>
            <p:nvSpPr>
              <p:cNvPr id="441" name="椭圆 440"/>
              <p:cNvSpPr/>
              <p:nvPr>
                <p:custDataLst>
                  <p:tags r:id="rId173"/>
                </p:custDataLst>
              </p:nvPr>
            </p:nvSpPr>
            <p:spPr>
              <a:xfrm>
                <a:off x="5006" y="3092"/>
                <a:ext cx="159" cy="159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2FCCFF">
                    <a:alpha val="40000"/>
                  </a:srgb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54405" hangingPunct="0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890" kern="0">
                  <a:uFillTx/>
                  <a:sym typeface="Calibri" panose="020F0502020204030204"/>
                </a:endParaRPr>
              </a:p>
            </p:txBody>
          </p:sp>
        </p:grpSp>
        <p:sp>
          <p:nvSpPr>
            <p:cNvPr id="395" name="椭圆 394"/>
            <p:cNvSpPr/>
            <p:nvPr>
              <p:custDataLst>
                <p:tags r:id="rId174"/>
              </p:custDataLst>
            </p:nvPr>
          </p:nvSpPr>
          <p:spPr>
            <a:xfrm>
              <a:off x="17442" y="8664"/>
              <a:ext cx="142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396" name="圆角矩形 48"/>
            <p:cNvSpPr/>
            <p:nvPr>
              <p:custDataLst>
                <p:tags r:id="rId175"/>
              </p:custDataLst>
            </p:nvPr>
          </p:nvSpPr>
          <p:spPr>
            <a:xfrm>
              <a:off x="17496" y="8573"/>
              <a:ext cx="1774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kern="0" dirty="0">
                  <a:solidFill>
                    <a:schemeClr val="tx1"/>
                  </a:solidFill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+mn-ea"/>
                </a:rPr>
                <a:t>……</a:t>
              </a:r>
              <a:endParaRPr lang="zh-CN" altLang="en-US" sz="1200" kern="0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endParaRPr>
            </a:p>
          </p:txBody>
        </p:sp>
      </p:grpSp>
      <p:cxnSp>
        <p:nvCxnSpPr>
          <p:cNvPr id="447" name="直接连接符 446"/>
          <p:cNvCxnSpPr/>
          <p:nvPr/>
        </p:nvCxnSpPr>
        <p:spPr>
          <a:xfrm flipH="1" flipV="1">
            <a:off x="6214191" y="4568773"/>
            <a:ext cx="2377" cy="2151800"/>
          </a:xfrm>
          <a:prstGeom prst="lin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07ACE9">
                  <a:alpha val="3000"/>
                </a:srgbClr>
              </a:gs>
            </a:gsLst>
            <a:lin ang="0" scaled="0"/>
          </a:gradFill>
          <a:ln w="38100">
            <a:gradFill>
              <a:gsLst>
                <a:gs pos="36000">
                  <a:srgbClr val="07ACE9">
                    <a:alpha val="23000"/>
                  </a:srgbClr>
                </a:gs>
                <a:gs pos="65000">
                  <a:schemeClr val="bg1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cxnSp>
        <p:nvCxnSpPr>
          <p:cNvPr id="576" name="直接连接符 575"/>
          <p:cNvCxnSpPr/>
          <p:nvPr/>
        </p:nvCxnSpPr>
        <p:spPr>
          <a:xfrm flipH="1">
            <a:off x="6791232" y="3909208"/>
            <a:ext cx="5166891" cy="19262"/>
          </a:xfrm>
          <a:prstGeom prst="lin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07ACE9">
                  <a:alpha val="3000"/>
                </a:srgbClr>
              </a:gs>
            </a:gsLst>
            <a:lin ang="0" scaled="0"/>
          </a:gradFill>
          <a:ln w="19050">
            <a:gradFill>
              <a:gsLst>
                <a:gs pos="36000">
                  <a:srgbClr val="07ACE9">
                    <a:alpha val="23000"/>
                  </a:srgbClr>
                </a:gs>
                <a:gs pos="65000">
                  <a:schemeClr val="bg1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cxnSp>
        <p:nvCxnSpPr>
          <p:cNvPr id="579" name="直接连接符 578"/>
          <p:cNvCxnSpPr/>
          <p:nvPr/>
        </p:nvCxnSpPr>
        <p:spPr>
          <a:xfrm>
            <a:off x="412901" y="3909208"/>
            <a:ext cx="5166891" cy="19262"/>
          </a:xfrm>
          <a:prstGeom prst="lin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07ACE9">
                  <a:alpha val="3000"/>
                </a:srgbClr>
              </a:gs>
            </a:gsLst>
            <a:lin ang="0" scaled="0"/>
          </a:gradFill>
          <a:ln w="19050">
            <a:gradFill>
              <a:gsLst>
                <a:gs pos="36000">
                  <a:srgbClr val="07ACE9">
                    <a:alpha val="23000"/>
                  </a:srgbClr>
                </a:gs>
                <a:gs pos="65000">
                  <a:schemeClr val="bg1">
                    <a:alpha val="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581" name="文本框 580"/>
          <p:cNvSpPr txBox="1"/>
          <p:nvPr>
            <p:custDataLst>
              <p:tags r:id="rId176"/>
            </p:custDataLst>
          </p:nvPr>
        </p:nvSpPr>
        <p:spPr>
          <a:xfrm>
            <a:off x="6345555" y="2921000"/>
            <a:ext cx="12763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54405" fontAlgn="base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kern="0" dirty="0">
                <a:solidFill>
                  <a:srgbClr val="0887E8"/>
                </a:solidFill>
                <a:uFillTx/>
                <a:latin typeface="微软雅黑" panose="020B0503020204020204" charset="-122"/>
                <a:ea typeface="+mj-ea"/>
                <a:cs typeface="+mj-cs"/>
                <a:sym typeface="+mn-ea"/>
              </a:rPr>
              <a:t>AI</a:t>
            </a:r>
            <a:r>
              <a:rPr lang="zh-CN" altLang="en-US" sz="1600" b="1" kern="0" dirty="0">
                <a:solidFill>
                  <a:srgbClr val="0887E8"/>
                </a:solidFill>
                <a:uFillTx/>
                <a:latin typeface="微软雅黑" panose="020B0503020204020204" charset="-122"/>
                <a:ea typeface="+mj-ea"/>
                <a:cs typeface="+mj-cs"/>
                <a:sym typeface="+mn-ea"/>
              </a:rPr>
              <a:t>会议分析与成果生成</a:t>
            </a:r>
            <a:endParaRPr lang="zh-CN" altLang="en-US" sz="1600" b="1" kern="0" dirty="0">
              <a:solidFill>
                <a:srgbClr val="0887E8"/>
              </a:solidFill>
              <a:uFillTx/>
              <a:latin typeface="微软雅黑" panose="020B0503020204020204" charset="-122"/>
              <a:ea typeface="+mj-ea"/>
              <a:cs typeface="+mj-cs"/>
              <a:sym typeface="+mn-ea"/>
            </a:endParaRPr>
          </a:p>
        </p:txBody>
      </p:sp>
      <p:sp>
        <p:nvSpPr>
          <p:cNvPr id="582" name="文本框 581"/>
          <p:cNvSpPr txBox="1"/>
          <p:nvPr>
            <p:custDataLst>
              <p:tags r:id="rId177"/>
            </p:custDataLst>
          </p:nvPr>
        </p:nvSpPr>
        <p:spPr>
          <a:xfrm>
            <a:off x="4784725" y="4372610"/>
            <a:ext cx="12763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54405" fontAlgn="base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kern="0" dirty="0">
                <a:solidFill>
                  <a:srgbClr val="0887E8"/>
                </a:solidFill>
                <a:uFillTx/>
                <a:latin typeface="微软雅黑" panose="020B0503020204020204" charset="-122"/>
                <a:ea typeface="+mj-ea"/>
                <a:cs typeface="+mj-cs"/>
                <a:sym typeface="+mn-ea"/>
              </a:rPr>
              <a:t>AI Agent</a:t>
            </a:r>
            <a:r>
              <a:rPr lang="zh-CN" altLang="en-US" sz="1600" b="1" kern="0" dirty="0">
                <a:solidFill>
                  <a:srgbClr val="0887E8"/>
                </a:solidFill>
                <a:uFillTx/>
                <a:latin typeface="微软雅黑" panose="020B0503020204020204" charset="-122"/>
                <a:ea typeface="+mj-ea"/>
                <a:cs typeface="+mj-cs"/>
                <a:sym typeface="+mn-ea"/>
              </a:rPr>
              <a:t>智能问答</a:t>
            </a:r>
            <a:endParaRPr lang="zh-CN" altLang="en-US" sz="1600" b="1" kern="0" dirty="0">
              <a:solidFill>
                <a:srgbClr val="0887E8"/>
              </a:solidFill>
              <a:uFillTx/>
              <a:latin typeface="微软雅黑" panose="020B0503020204020204" charset="-122"/>
              <a:ea typeface="+mj-ea"/>
              <a:cs typeface="+mj-cs"/>
              <a:sym typeface="+mn-ea"/>
            </a:endParaRPr>
          </a:p>
        </p:txBody>
      </p:sp>
      <p:sp>
        <p:nvSpPr>
          <p:cNvPr id="583" name="文本框 582"/>
          <p:cNvSpPr txBox="1"/>
          <p:nvPr>
            <p:custDataLst>
              <p:tags r:id="rId178"/>
            </p:custDataLst>
          </p:nvPr>
        </p:nvSpPr>
        <p:spPr>
          <a:xfrm>
            <a:off x="6391275" y="4372610"/>
            <a:ext cx="12763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54405" fontAlgn="base" hangingPunct="0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kern="0" dirty="0">
                <a:solidFill>
                  <a:srgbClr val="0887E8"/>
                </a:solidFill>
                <a:uFillTx/>
                <a:latin typeface="微软雅黑" panose="020B0503020204020204" charset="-122"/>
                <a:ea typeface="+mj-ea"/>
                <a:cs typeface="+mj-cs"/>
                <a:sym typeface="+mn-ea"/>
              </a:rPr>
              <a:t>协同与</a:t>
            </a:r>
            <a:endParaRPr lang="zh-CN" altLang="en-US" sz="1600" b="1" kern="0" dirty="0">
              <a:solidFill>
                <a:srgbClr val="0887E8"/>
              </a:solidFill>
              <a:uFillTx/>
              <a:latin typeface="微软雅黑" panose="020B0503020204020204" charset="-122"/>
              <a:ea typeface="+mj-ea"/>
              <a:cs typeface="+mj-cs"/>
              <a:sym typeface="+mn-ea"/>
            </a:endParaRPr>
          </a:p>
          <a:p>
            <a:pPr lvl="0" algn="ctr" defTabSz="954405" fontAlgn="base" hangingPunct="0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kern="0" dirty="0">
                <a:solidFill>
                  <a:srgbClr val="0887E8"/>
                </a:solidFill>
                <a:uFillTx/>
                <a:latin typeface="微软雅黑" panose="020B0503020204020204" charset="-122"/>
                <a:ea typeface="+mj-ea"/>
                <a:cs typeface="+mj-cs"/>
                <a:sym typeface="+mn-ea"/>
              </a:rPr>
              <a:t>权限管理</a:t>
            </a:r>
            <a:endParaRPr lang="zh-CN" altLang="en-US" sz="1600" b="1" kern="0" dirty="0">
              <a:solidFill>
                <a:srgbClr val="0887E8"/>
              </a:solidFill>
              <a:uFillTx/>
              <a:latin typeface="微软雅黑" panose="020B0503020204020204" charset="-122"/>
              <a:ea typeface="+mj-ea"/>
              <a:cs typeface="+mj-cs"/>
              <a:sym typeface="+mn-ea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-45085" y="3981450"/>
            <a:ext cx="2129155" cy="1242695"/>
            <a:chOff x="221" y="6860"/>
            <a:chExt cx="3353" cy="1957"/>
          </a:xfrm>
        </p:grpSpPr>
        <p:sp>
          <p:nvSpPr>
            <p:cNvPr id="75" name="椭圆 74"/>
            <p:cNvSpPr/>
            <p:nvPr>
              <p:custDataLst>
                <p:tags r:id="rId179"/>
              </p:custDataLst>
            </p:nvPr>
          </p:nvSpPr>
          <p:spPr>
            <a:xfrm>
              <a:off x="2240" y="7259"/>
              <a:ext cx="1130" cy="1130"/>
            </a:xfrm>
            <a:prstGeom prst="ellipse">
              <a:avLst/>
            </a:prstGeom>
            <a:gradFill>
              <a:gsLst>
                <a:gs pos="0">
                  <a:srgbClr val="47BCFF"/>
                </a:gs>
                <a:gs pos="100000">
                  <a:srgbClr val="007EC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+mn-ea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180"/>
              </p:custDataLst>
            </p:nvPr>
          </p:nvSpPr>
          <p:spPr>
            <a:xfrm>
              <a:off x="2197" y="7412"/>
              <a:ext cx="120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b="1" kern="0" dirty="0">
                  <a:solidFill>
                    <a:schemeClr val="bg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辅助决策建议</a:t>
              </a:r>
              <a:endParaRPr lang="zh-CN" altLang="en-US" sz="1000" b="1" kern="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7" name="圆角矩形 379"/>
            <p:cNvSpPr/>
            <p:nvPr>
              <p:custDataLst>
                <p:tags r:id="rId181"/>
              </p:custDataLst>
            </p:nvPr>
          </p:nvSpPr>
          <p:spPr>
            <a:xfrm>
              <a:off x="221" y="7260"/>
              <a:ext cx="1769" cy="40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r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行业数据实时调取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78" name="圆角矩形 380"/>
            <p:cNvSpPr/>
            <p:nvPr>
              <p:custDataLst>
                <p:tags r:id="rId182"/>
              </p:custDataLst>
            </p:nvPr>
          </p:nvSpPr>
          <p:spPr>
            <a:xfrm>
              <a:off x="262" y="7655"/>
              <a:ext cx="1769" cy="40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r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多方案对比分析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80" name="圆角矩形 381"/>
            <p:cNvSpPr/>
            <p:nvPr>
              <p:custDataLst>
                <p:tags r:id="rId183"/>
              </p:custDataLst>
            </p:nvPr>
          </p:nvSpPr>
          <p:spPr>
            <a:xfrm>
              <a:off x="429" y="8093"/>
              <a:ext cx="1769" cy="40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r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决策智能</a:t>
              </a: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整理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92" name="椭圆 91"/>
            <p:cNvSpPr/>
            <p:nvPr>
              <p:custDataLst>
                <p:tags r:id="rId184"/>
              </p:custDataLst>
            </p:nvPr>
          </p:nvSpPr>
          <p:spPr>
            <a:xfrm>
              <a:off x="2037" y="7053"/>
              <a:ext cx="1537" cy="1537"/>
            </a:xfrm>
            <a:prstGeom prst="ellipse">
              <a:avLst/>
            </a:prstGeom>
            <a:noFill/>
            <a:ln>
              <a:solidFill>
                <a:srgbClr val="2FCCFF">
                  <a:alpha val="25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93" name="椭圆 92"/>
            <p:cNvSpPr/>
            <p:nvPr>
              <p:custDataLst>
                <p:tags r:id="rId185"/>
              </p:custDataLst>
            </p:nvPr>
          </p:nvSpPr>
          <p:spPr>
            <a:xfrm>
              <a:off x="2055" y="7432"/>
              <a:ext cx="142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96" name="椭圆 95"/>
            <p:cNvSpPr/>
            <p:nvPr>
              <p:custDataLst>
                <p:tags r:id="rId186"/>
              </p:custDataLst>
            </p:nvPr>
          </p:nvSpPr>
          <p:spPr>
            <a:xfrm>
              <a:off x="1990" y="7800"/>
              <a:ext cx="137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105" name="椭圆 104"/>
            <p:cNvSpPr/>
            <p:nvPr>
              <p:custDataLst>
                <p:tags r:id="rId187"/>
              </p:custDataLst>
            </p:nvPr>
          </p:nvSpPr>
          <p:spPr>
            <a:xfrm>
              <a:off x="2497" y="8512"/>
              <a:ext cx="142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106" name="圆角矩形 35"/>
            <p:cNvSpPr/>
            <p:nvPr>
              <p:custDataLst>
                <p:tags r:id="rId188"/>
              </p:custDataLst>
            </p:nvPr>
          </p:nvSpPr>
          <p:spPr>
            <a:xfrm>
              <a:off x="776" y="8413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r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200" kern="0" dirty="0">
                  <a:solidFill>
                    <a:schemeClr val="tx1"/>
                  </a:solidFill>
                  <a:uFillTx/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+mn-ea"/>
                </a:rPr>
                <a:t>……</a:t>
              </a:r>
              <a:endParaRPr lang="zh-CN" altLang="en-US" sz="1200" kern="0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09" name="椭圆 108"/>
            <p:cNvSpPr/>
            <p:nvPr>
              <p:custDataLst>
                <p:tags r:id="rId189"/>
              </p:custDataLst>
            </p:nvPr>
          </p:nvSpPr>
          <p:spPr>
            <a:xfrm>
              <a:off x="2126" y="8201"/>
              <a:ext cx="142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  <p:sp>
          <p:nvSpPr>
            <p:cNvPr id="110" name="圆角矩形 379"/>
            <p:cNvSpPr/>
            <p:nvPr>
              <p:custDataLst>
                <p:tags r:id="rId190"/>
              </p:custDataLst>
            </p:nvPr>
          </p:nvSpPr>
          <p:spPr>
            <a:xfrm>
              <a:off x="643" y="6860"/>
              <a:ext cx="1769" cy="40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r" defTabSz="954405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40" kern="0" dirty="0">
                  <a:solidFill>
                    <a:schemeClr val="tx1"/>
                  </a:solidFill>
                  <a:uFillTx/>
                  <a:latin typeface="+mj-ea"/>
                  <a:ea typeface="+mj-ea"/>
                  <a:sym typeface="+mn-ea"/>
                </a:rPr>
                <a:t>会议内容深度分析</a:t>
              </a:r>
              <a:endParaRPr lang="zh-CN" altLang="en-US" sz="840" kern="0" dirty="0">
                <a:solidFill>
                  <a:schemeClr val="tx1"/>
                </a:solidFill>
                <a:uFillTx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115" name="椭圆 114"/>
            <p:cNvSpPr/>
            <p:nvPr>
              <p:custDataLst>
                <p:tags r:id="rId191"/>
              </p:custDataLst>
            </p:nvPr>
          </p:nvSpPr>
          <p:spPr>
            <a:xfrm>
              <a:off x="2325" y="7104"/>
              <a:ext cx="142" cy="14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2FCCFF">
                  <a:alpha val="4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lang="zh-CN" altLang="en-US" sz="1890" kern="0">
                <a:uFillTx/>
                <a:sym typeface="Calibri" panose="020F0502020204030204"/>
              </a:endParaRPr>
            </a:p>
          </p:txBody>
        </p:sp>
      </p:grpSp>
      <p:sp>
        <p:nvSpPr>
          <p:cNvPr id="121" name="AutoShape 3"/>
          <p:cNvSpPr/>
          <p:nvPr/>
        </p:nvSpPr>
        <p:spPr>
          <a:xfrm>
            <a:off x="315595" y="93345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四大核心功能</a:t>
            </a:r>
            <a:r>
              <a:rPr lang="zh-CN" altLang="en-US" sz="3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讲解</a:t>
            </a:r>
            <a:endParaRPr lang="zh-CN" altLang="en-US" sz="3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413385" y="875665"/>
            <a:ext cx="112826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智慧通的四大核心功能构成了其强大的竞争力。高准确率的语音转写与人声分离解决了记录难题；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分析与成果生成实现了会议内容的自动化处理；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 Agent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智能问答打破了信息孤岛；而协同与权限管理则确保了企业数据的安全与合规，全方位提升会议体验与价值。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48640" y="452120"/>
            <a:ext cx="90551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</a:t>
            </a:r>
            <a:r>
              <a:rPr lang="zh-CN" altLang="en-US" sz="3600" b="1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</a:t>
            </a:r>
            <a:r>
              <a:rPr lang="en-US" sz="3600" b="1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3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语音转写与人声分离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46100" y="1232535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8350" y="978535"/>
            <a:ext cx="10223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慧通的语音转写与人声分离功能，是提升会议效率的基石。针对会议场景深度优化，普通话转写准确率超98%，支持实时编辑与修正，并能自动区分不同发言者，分角色精准标注，彻底解放人力，让会议记录更准确、更灵活。</a:t>
            </a:r>
            <a:endParaRPr lang="en-US" sz="14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14350" y="2328545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508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704850" y="2506345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212850" y="2392045"/>
            <a:ext cx="4254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高准确率引擎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针对会议场景深度优化，普通话转写准确率超98%；具备复杂环境抗噪能力和实时流式转写功能。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514350" y="3301365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508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704850" y="3479165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212850" y="3364865"/>
            <a:ext cx="4254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实时编辑与修正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转写内容全程可编辑，支持会议中/会后随时修改、校正、增补；支持多端同步编辑，内容实时生效。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163310" y="2342515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508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6353810" y="2520315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6861810" y="2406015"/>
            <a:ext cx="4254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分离说话人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自动区分不同发言者，分角色精准标注；发言时序对齐，按时间轴同步转写内容，便于复盘。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3625215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EBF2FA">
              <a:alpha val="100000"/>
            </a:srgbClr>
          </a:solidFill>
          <a:ln w="25400" cap="flat" cmpd="sng">
            <a:solidFill>
              <a:srgbClr val="87CEE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9733280" y="3067685"/>
            <a:ext cx="472440" cy="47244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163310" y="3160395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人声分离演示</a:t>
            </a:r>
            <a:endParaRPr lang="en-US" sz="1100"/>
          </a:p>
          <a:p>
            <a:pPr indent="0" algn="ctr">
              <a:lnSpc>
                <a:spcPct val="125000"/>
              </a:lnSpc>
            </a:pP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6451600" y="3771265"/>
            <a:ext cx="4851400" cy="2247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文本框 18"/>
          <p:cNvSpPr txBox="1"/>
          <p:nvPr/>
        </p:nvSpPr>
        <p:spPr>
          <a:xfrm>
            <a:off x="546100" y="431419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语音转写</a:t>
            </a:r>
            <a:endParaRPr lang="en-US" altLang="en-US" sz="1600" b="1">
              <a:solidFill>
                <a:srgbClr val="00529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14"/>
          <p:cNvSpPr/>
          <p:nvPr/>
        </p:nvSpPr>
        <p:spPr>
          <a:xfrm>
            <a:off x="667385" y="4876800"/>
            <a:ext cx="5057140" cy="1235710"/>
          </a:xfrm>
          <a:prstGeom prst="roundRect">
            <a:avLst>
              <a:gd name="adj" fmla="val 5000"/>
            </a:avLst>
          </a:prstGeom>
          <a:solidFill>
            <a:srgbClr val="EBF2FA">
              <a:alpha val="100000"/>
            </a:srgbClr>
          </a:solidFill>
          <a:ln w="25400" cap="flat" cmpd="sng">
            <a:solidFill>
              <a:srgbClr val="87CEE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4560" y="4965700"/>
            <a:ext cx="4542790" cy="10140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41020"/>
            <a:ext cx="95504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核心功能二：AI会议分析与成果生成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889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智慧通的AI会议分析与成果生成功能，不仅能一键生成结构化纪要、思维导图和待办任务，还支持对所有内容进行在线编辑，并能将纪要一键存入个人笔记，极大地提升了会议成果的利用效率。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13610"/>
            <a:ext cx="508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智能生成能力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21610"/>
            <a:ext cx="27432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结构化纪要一键生成：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自动提炼会议核心内容，生成标准化会议纪要。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483610"/>
            <a:ext cx="27432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思维导图智能生成：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基于会议议题自动生成可视化思维导图，梳理逻辑。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245610"/>
            <a:ext cx="27432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待办任务自动拆解：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识别会议任务项，生成可跟踪待办清单。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007610"/>
            <a:ext cx="267208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隐形未决事项识别：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捕捉待跟进内容，避免会议遗漏。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04280" y="2213610"/>
            <a:ext cx="508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编辑与存储能力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1420" y="2721610"/>
            <a:ext cx="287528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全内容在线编辑：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笔记、纪要、思维导图、待办等全模块支持自由编辑。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1420" y="3483610"/>
            <a:ext cx="2874645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纪要一键存笔记：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生成的会议纪要可直接归档至个人笔记，方便查阅复用。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81420" y="4245610"/>
            <a:ext cx="2957195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多格式自适应导出：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支持Word、PDF等多格式导出，适配不同使用场景。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81420" y="5007610"/>
            <a:ext cx="295656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内容智能校对：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自动校正错别字、优化语句，提升纪要可读性。</a:t>
            </a:r>
            <a:endParaRPr lang="en-US" sz="1100"/>
          </a:p>
        </p:txBody>
      </p:sp>
      <p:grpSp>
        <p:nvGrpSpPr>
          <p:cNvPr id="105" name="išlíḓé"/>
          <p:cNvGrpSpPr/>
          <p:nvPr/>
        </p:nvGrpSpPr>
        <p:grpSpPr>
          <a:xfrm rot="0">
            <a:off x="3595370" y="2313305"/>
            <a:ext cx="2432685" cy="1232535"/>
            <a:chOff x="3049101" y="1447800"/>
            <a:chExt cx="6093799" cy="3506972"/>
          </a:xfrm>
        </p:grpSpPr>
        <p:sp>
          <p:nvSpPr>
            <p:cNvPr id="107" name="íṡḻîḋè"/>
            <p:cNvSpPr/>
            <p:nvPr/>
          </p:nvSpPr>
          <p:spPr bwMode="auto">
            <a:xfrm>
              <a:off x="3049101" y="4819353"/>
              <a:ext cx="3069469" cy="135419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108" name="ï$ľiḋé"/>
            <p:cNvSpPr/>
            <p:nvPr/>
          </p:nvSpPr>
          <p:spPr bwMode="auto">
            <a:xfrm>
              <a:off x="6073429" y="4819353"/>
              <a:ext cx="3069469" cy="135419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109" name="ïSļídé"/>
            <p:cNvSpPr/>
            <p:nvPr/>
          </p:nvSpPr>
          <p:spPr bwMode="auto">
            <a:xfrm>
              <a:off x="3649798" y="1447800"/>
              <a:ext cx="4937539" cy="3381971"/>
            </a:xfrm>
            <a:custGeom>
              <a:avLst/>
              <a:gdLst>
                <a:gd name="T0" fmla="*/ 1378 w 1423"/>
                <a:gd name="T1" fmla="*/ 0 h 974"/>
                <a:gd name="T2" fmla="*/ 45 w 1423"/>
                <a:gd name="T3" fmla="*/ 0 h 974"/>
                <a:gd name="T4" fmla="*/ 0 w 1423"/>
                <a:gd name="T5" fmla="*/ 45 h 974"/>
                <a:gd name="T6" fmla="*/ 0 w 1423"/>
                <a:gd name="T7" fmla="*/ 218 h 974"/>
                <a:gd name="T8" fmla="*/ 0 w 1423"/>
                <a:gd name="T9" fmla="*/ 929 h 974"/>
                <a:gd name="T10" fmla="*/ 45 w 1423"/>
                <a:gd name="T11" fmla="*/ 974 h 974"/>
                <a:gd name="T12" fmla="*/ 1378 w 1423"/>
                <a:gd name="T13" fmla="*/ 974 h 974"/>
                <a:gd name="T14" fmla="*/ 1423 w 1423"/>
                <a:gd name="T15" fmla="*/ 929 h 974"/>
                <a:gd name="T16" fmla="*/ 1423 w 1423"/>
                <a:gd name="T17" fmla="*/ 45 h 974"/>
                <a:gd name="T18" fmla="*/ 1378 w 1423"/>
                <a:gd name="T19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3" h="974">
                  <a:moveTo>
                    <a:pt x="1378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929"/>
                    <a:pt x="0" y="929"/>
                    <a:pt x="0" y="929"/>
                  </a:cubicBezTo>
                  <a:cubicBezTo>
                    <a:pt x="0" y="954"/>
                    <a:pt x="20" y="974"/>
                    <a:pt x="45" y="974"/>
                  </a:cubicBezTo>
                  <a:cubicBezTo>
                    <a:pt x="1378" y="974"/>
                    <a:pt x="1378" y="974"/>
                    <a:pt x="1378" y="974"/>
                  </a:cubicBezTo>
                  <a:cubicBezTo>
                    <a:pt x="1403" y="974"/>
                    <a:pt x="1423" y="954"/>
                    <a:pt x="1423" y="929"/>
                  </a:cubicBezTo>
                  <a:cubicBezTo>
                    <a:pt x="1423" y="45"/>
                    <a:pt x="1423" y="45"/>
                    <a:pt x="1423" y="45"/>
                  </a:cubicBezTo>
                  <a:cubicBezTo>
                    <a:pt x="1423" y="20"/>
                    <a:pt x="1403" y="0"/>
                    <a:pt x="1378" y="0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110" name="î$ľiḋé"/>
            <p:cNvSpPr/>
            <p:nvPr/>
          </p:nvSpPr>
          <p:spPr bwMode="auto">
            <a:xfrm>
              <a:off x="3667161" y="1465160"/>
              <a:ext cx="4906289" cy="3347249"/>
            </a:xfrm>
            <a:custGeom>
              <a:avLst/>
              <a:gdLst>
                <a:gd name="T0" fmla="*/ 40 w 1414"/>
                <a:gd name="T1" fmla="*/ 964 h 964"/>
                <a:gd name="T2" fmla="*/ 0 w 1414"/>
                <a:gd name="T3" fmla="*/ 924 h 964"/>
                <a:gd name="T4" fmla="*/ 0 w 1414"/>
                <a:gd name="T5" fmla="*/ 40 h 964"/>
                <a:gd name="T6" fmla="*/ 40 w 1414"/>
                <a:gd name="T7" fmla="*/ 0 h 964"/>
                <a:gd name="T8" fmla="*/ 1373 w 1414"/>
                <a:gd name="T9" fmla="*/ 0 h 964"/>
                <a:gd name="T10" fmla="*/ 1414 w 1414"/>
                <a:gd name="T11" fmla="*/ 40 h 964"/>
                <a:gd name="T12" fmla="*/ 1414 w 1414"/>
                <a:gd name="T13" fmla="*/ 924 h 964"/>
                <a:gd name="T14" fmla="*/ 1373 w 1414"/>
                <a:gd name="T15" fmla="*/ 964 h 964"/>
                <a:gd name="T16" fmla="*/ 40 w 1414"/>
                <a:gd name="T17" fmla="*/ 96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964">
                  <a:moveTo>
                    <a:pt x="40" y="964"/>
                  </a:moveTo>
                  <a:cubicBezTo>
                    <a:pt x="18" y="964"/>
                    <a:pt x="0" y="946"/>
                    <a:pt x="0" y="92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373" y="0"/>
                    <a:pt x="1373" y="0"/>
                    <a:pt x="1373" y="0"/>
                  </a:cubicBezTo>
                  <a:cubicBezTo>
                    <a:pt x="1396" y="0"/>
                    <a:pt x="1414" y="18"/>
                    <a:pt x="1414" y="40"/>
                  </a:cubicBezTo>
                  <a:cubicBezTo>
                    <a:pt x="1414" y="924"/>
                    <a:pt x="1414" y="924"/>
                    <a:pt x="1414" y="924"/>
                  </a:cubicBezTo>
                  <a:cubicBezTo>
                    <a:pt x="1414" y="946"/>
                    <a:pt x="1396" y="964"/>
                    <a:pt x="1373" y="964"/>
                  </a:cubicBezTo>
                  <a:lnTo>
                    <a:pt x="40" y="964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111" name="îSlíḑe"/>
            <p:cNvSpPr/>
            <p:nvPr/>
          </p:nvSpPr>
          <p:spPr bwMode="auto">
            <a:xfrm>
              <a:off x="3667161" y="4670049"/>
              <a:ext cx="4906289" cy="142363"/>
            </a:xfrm>
            <a:custGeom>
              <a:avLst/>
              <a:gdLst>
                <a:gd name="T0" fmla="*/ 1414 w 1414"/>
                <a:gd name="T1" fmla="*/ 0 h 41"/>
                <a:gd name="T2" fmla="*/ 1396 w 1414"/>
                <a:gd name="T3" fmla="*/ 9 h 41"/>
                <a:gd name="T4" fmla="*/ 18 w 1414"/>
                <a:gd name="T5" fmla="*/ 9 h 41"/>
                <a:gd name="T6" fmla="*/ 0 w 1414"/>
                <a:gd name="T7" fmla="*/ 0 h 41"/>
                <a:gd name="T8" fmla="*/ 0 w 1414"/>
                <a:gd name="T9" fmla="*/ 1 h 41"/>
                <a:gd name="T10" fmla="*/ 40 w 1414"/>
                <a:gd name="T11" fmla="*/ 41 h 41"/>
                <a:gd name="T12" fmla="*/ 1373 w 1414"/>
                <a:gd name="T13" fmla="*/ 41 h 41"/>
                <a:gd name="T14" fmla="*/ 1414 w 1414"/>
                <a:gd name="T15" fmla="*/ 1 h 41"/>
                <a:gd name="T16" fmla="*/ 1414 w 1414"/>
                <a:gd name="T1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41">
                  <a:moveTo>
                    <a:pt x="1414" y="0"/>
                  </a:moveTo>
                  <a:cubicBezTo>
                    <a:pt x="1409" y="6"/>
                    <a:pt x="1403" y="9"/>
                    <a:pt x="1396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0" y="9"/>
                    <a:pt x="4" y="6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3"/>
                    <a:pt x="18" y="41"/>
                    <a:pt x="40" y="41"/>
                  </a:cubicBezTo>
                  <a:cubicBezTo>
                    <a:pt x="1373" y="41"/>
                    <a:pt x="1373" y="41"/>
                    <a:pt x="1373" y="41"/>
                  </a:cubicBezTo>
                  <a:cubicBezTo>
                    <a:pt x="1396" y="41"/>
                    <a:pt x="1414" y="23"/>
                    <a:pt x="1414" y="1"/>
                  </a:cubicBezTo>
                  <a:lnTo>
                    <a:pt x="1414" y="0"/>
                  </a:lnTo>
                  <a:close/>
                </a:path>
              </a:pathLst>
            </a:custGeom>
            <a:solidFill>
              <a:srgbClr val="0C0D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112" name="íśľiḍê"/>
            <p:cNvSpPr/>
            <p:nvPr/>
          </p:nvSpPr>
          <p:spPr bwMode="auto">
            <a:xfrm>
              <a:off x="3049101" y="4763796"/>
              <a:ext cx="6093799" cy="111112"/>
            </a:xfrm>
            <a:prstGeom prst="rect">
              <a:avLst/>
            </a:prstGeom>
            <a:solidFill>
              <a:srgbClr val="D2D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113" name="ïṩľîḍê"/>
            <p:cNvSpPr/>
            <p:nvPr/>
          </p:nvSpPr>
          <p:spPr bwMode="auto">
            <a:xfrm>
              <a:off x="5656759" y="4763796"/>
              <a:ext cx="875007" cy="62500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114" name="îṥḷíḋe"/>
            <p:cNvSpPr/>
            <p:nvPr/>
          </p:nvSpPr>
          <p:spPr bwMode="auto">
            <a:xfrm>
              <a:off x="3830356" y="1676968"/>
              <a:ext cx="4579898" cy="2892385"/>
            </a:xfrm>
            <a:prstGeom prst="rect">
              <a:avLst/>
            </a:prstGeom>
            <a:solidFill>
              <a:srgbClr val="0C0D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115" name="iṣlïḍe"/>
            <p:cNvSpPr/>
            <p:nvPr/>
          </p:nvSpPr>
          <p:spPr bwMode="auto">
            <a:xfrm>
              <a:off x="3844245" y="1694329"/>
              <a:ext cx="4548647" cy="286113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116" name="iṥ1îḑe"/>
            <p:cNvSpPr/>
            <p:nvPr/>
          </p:nvSpPr>
          <p:spPr bwMode="auto">
            <a:xfrm>
              <a:off x="6090792" y="1555439"/>
              <a:ext cx="52085" cy="52085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117" name="ïṣlïde"/>
            <p:cNvSpPr/>
            <p:nvPr/>
          </p:nvSpPr>
          <p:spPr bwMode="auto">
            <a:xfrm>
              <a:off x="6090792" y="1551967"/>
              <a:ext cx="52085" cy="48611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118" name="iṣľiḍe"/>
            <p:cNvSpPr/>
            <p:nvPr/>
          </p:nvSpPr>
          <p:spPr bwMode="auto">
            <a:xfrm>
              <a:off x="6101207" y="1558912"/>
              <a:ext cx="31250" cy="3472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119" name="ïślíďe"/>
            <p:cNvSpPr/>
            <p:nvPr/>
          </p:nvSpPr>
          <p:spPr bwMode="auto">
            <a:xfrm>
              <a:off x="6108152" y="1569328"/>
              <a:ext cx="17362" cy="17362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120" name="i$ḻïdé"/>
            <p:cNvSpPr/>
            <p:nvPr/>
          </p:nvSpPr>
          <p:spPr bwMode="auto">
            <a:xfrm>
              <a:off x="6115096" y="1572801"/>
              <a:ext cx="3473" cy="6944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1 h 2"/>
                <a:gd name="T6" fmla="*/ 1 w 1"/>
                <a:gd name="T7" fmla="*/ 0 h 2"/>
                <a:gd name="T8" fmla="*/ 1 w 1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121" name="î$1ídè"/>
            <p:cNvSpPr/>
            <p:nvPr/>
          </p:nvSpPr>
          <p:spPr>
            <a:xfrm>
              <a:off x="3813047" y="1690855"/>
              <a:ext cx="4597207" cy="2878498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uFillTx/>
                <a:sym typeface="Calibri" panose="020F0502020204030204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2870" y="2402205"/>
            <a:ext cx="1830705" cy="1015365"/>
          </a:xfrm>
          <a:prstGeom prst="rect">
            <a:avLst/>
          </a:prstGeom>
        </p:spPr>
      </p:pic>
      <p:grpSp>
        <p:nvGrpSpPr>
          <p:cNvPr id="19" name="išlíḓé"/>
          <p:cNvGrpSpPr/>
          <p:nvPr/>
        </p:nvGrpSpPr>
        <p:grpSpPr>
          <a:xfrm rot="0">
            <a:off x="3533140" y="4342765"/>
            <a:ext cx="2432685" cy="1232535"/>
            <a:chOff x="3049101" y="1447800"/>
            <a:chExt cx="6093799" cy="3506972"/>
          </a:xfrm>
        </p:grpSpPr>
        <p:sp>
          <p:nvSpPr>
            <p:cNvPr id="20" name="íṡḻîḋè"/>
            <p:cNvSpPr/>
            <p:nvPr/>
          </p:nvSpPr>
          <p:spPr bwMode="auto">
            <a:xfrm>
              <a:off x="3049101" y="4819353"/>
              <a:ext cx="3069469" cy="135419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21" name="ï$ľiḋé"/>
            <p:cNvSpPr/>
            <p:nvPr/>
          </p:nvSpPr>
          <p:spPr bwMode="auto">
            <a:xfrm>
              <a:off x="6073429" y="4819353"/>
              <a:ext cx="3069469" cy="135419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22" name="ïSļídé"/>
            <p:cNvSpPr/>
            <p:nvPr/>
          </p:nvSpPr>
          <p:spPr bwMode="auto">
            <a:xfrm>
              <a:off x="3649798" y="1447800"/>
              <a:ext cx="4937539" cy="3381971"/>
            </a:xfrm>
            <a:custGeom>
              <a:avLst/>
              <a:gdLst>
                <a:gd name="T0" fmla="*/ 1378 w 1423"/>
                <a:gd name="T1" fmla="*/ 0 h 974"/>
                <a:gd name="T2" fmla="*/ 45 w 1423"/>
                <a:gd name="T3" fmla="*/ 0 h 974"/>
                <a:gd name="T4" fmla="*/ 0 w 1423"/>
                <a:gd name="T5" fmla="*/ 45 h 974"/>
                <a:gd name="T6" fmla="*/ 0 w 1423"/>
                <a:gd name="T7" fmla="*/ 218 h 974"/>
                <a:gd name="T8" fmla="*/ 0 w 1423"/>
                <a:gd name="T9" fmla="*/ 929 h 974"/>
                <a:gd name="T10" fmla="*/ 45 w 1423"/>
                <a:gd name="T11" fmla="*/ 974 h 974"/>
                <a:gd name="T12" fmla="*/ 1378 w 1423"/>
                <a:gd name="T13" fmla="*/ 974 h 974"/>
                <a:gd name="T14" fmla="*/ 1423 w 1423"/>
                <a:gd name="T15" fmla="*/ 929 h 974"/>
                <a:gd name="T16" fmla="*/ 1423 w 1423"/>
                <a:gd name="T17" fmla="*/ 45 h 974"/>
                <a:gd name="T18" fmla="*/ 1378 w 1423"/>
                <a:gd name="T19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3" h="974">
                  <a:moveTo>
                    <a:pt x="1378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929"/>
                    <a:pt x="0" y="929"/>
                    <a:pt x="0" y="929"/>
                  </a:cubicBezTo>
                  <a:cubicBezTo>
                    <a:pt x="0" y="954"/>
                    <a:pt x="20" y="974"/>
                    <a:pt x="45" y="974"/>
                  </a:cubicBezTo>
                  <a:cubicBezTo>
                    <a:pt x="1378" y="974"/>
                    <a:pt x="1378" y="974"/>
                    <a:pt x="1378" y="974"/>
                  </a:cubicBezTo>
                  <a:cubicBezTo>
                    <a:pt x="1403" y="974"/>
                    <a:pt x="1423" y="954"/>
                    <a:pt x="1423" y="929"/>
                  </a:cubicBezTo>
                  <a:cubicBezTo>
                    <a:pt x="1423" y="45"/>
                    <a:pt x="1423" y="45"/>
                    <a:pt x="1423" y="45"/>
                  </a:cubicBezTo>
                  <a:cubicBezTo>
                    <a:pt x="1423" y="20"/>
                    <a:pt x="1403" y="0"/>
                    <a:pt x="1378" y="0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23" name="î$ľiḋé"/>
            <p:cNvSpPr/>
            <p:nvPr/>
          </p:nvSpPr>
          <p:spPr bwMode="auto">
            <a:xfrm>
              <a:off x="3667161" y="1465160"/>
              <a:ext cx="4906289" cy="3347249"/>
            </a:xfrm>
            <a:custGeom>
              <a:avLst/>
              <a:gdLst>
                <a:gd name="T0" fmla="*/ 40 w 1414"/>
                <a:gd name="T1" fmla="*/ 964 h 964"/>
                <a:gd name="T2" fmla="*/ 0 w 1414"/>
                <a:gd name="T3" fmla="*/ 924 h 964"/>
                <a:gd name="T4" fmla="*/ 0 w 1414"/>
                <a:gd name="T5" fmla="*/ 40 h 964"/>
                <a:gd name="T6" fmla="*/ 40 w 1414"/>
                <a:gd name="T7" fmla="*/ 0 h 964"/>
                <a:gd name="T8" fmla="*/ 1373 w 1414"/>
                <a:gd name="T9" fmla="*/ 0 h 964"/>
                <a:gd name="T10" fmla="*/ 1414 w 1414"/>
                <a:gd name="T11" fmla="*/ 40 h 964"/>
                <a:gd name="T12" fmla="*/ 1414 w 1414"/>
                <a:gd name="T13" fmla="*/ 924 h 964"/>
                <a:gd name="T14" fmla="*/ 1373 w 1414"/>
                <a:gd name="T15" fmla="*/ 964 h 964"/>
                <a:gd name="T16" fmla="*/ 40 w 1414"/>
                <a:gd name="T17" fmla="*/ 96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964">
                  <a:moveTo>
                    <a:pt x="40" y="964"/>
                  </a:moveTo>
                  <a:cubicBezTo>
                    <a:pt x="18" y="964"/>
                    <a:pt x="0" y="946"/>
                    <a:pt x="0" y="92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373" y="0"/>
                    <a:pt x="1373" y="0"/>
                    <a:pt x="1373" y="0"/>
                  </a:cubicBezTo>
                  <a:cubicBezTo>
                    <a:pt x="1396" y="0"/>
                    <a:pt x="1414" y="18"/>
                    <a:pt x="1414" y="40"/>
                  </a:cubicBezTo>
                  <a:cubicBezTo>
                    <a:pt x="1414" y="924"/>
                    <a:pt x="1414" y="924"/>
                    <a:pt x="1414" y="924"/>
                  </a:cubicBezTo>
                  <a:cubicBezTo>
                    <a:pt x="1414" y="946"/>
                    <a:pt x="1396" y="964"/>
                    <a:pt x="1373" y="964"/>
                  </a:cubicBezTo>
                  <a:lnTo>
                    <a:pt x="40" y="964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24" name="îSlíḑe"/>
            <p:cNvSpPr/>
            <p:nvPr/>
          </p:nvSpPr>
          <p:spPr bwMode="auto">
            <a:xfrm>
              <a:off x="3667161" y="4670049"/>
              <a:ext cx="4906289" cy="142363"/>
            </a:xfrm>
            <a:custGeom>
              <a:avLst/>
              <a:gdLst>
                <a:gd name="T0" fmla="*/ 1414 w 1414"/>
                <a:gd name="T1" fmla="*/ 0 h 41"/>
                <a:gd name="T2" fmla="*/ 1396 w 1414"/>
                <a:gd name="T3" fmla="*/ 9 h 41"/>
                <a:gd name="T4" fmla="*/ 18 w 1414"/>
                <a:gd name="T5" fmla="*/ 9 h 41"/>
                <a:gd name="T6" fmla="*/ 0 w 1414"/>
                <a:gd name="T7" fmla="*/ 0 h 41"/>
                <a:gd name="T8" fmla="*/ 0 w 1414"/>
                <a:gd name="T9" fmla="*/ 1 h 41"/>
                <a:gd name="T10" fmla="*/ 40 w 1414"/>
                <a:gd name="T11" fmla="*/ 41 h 41"/>
                <a:gd name="T12" fmla="*/ 1373 w 1414"/>
                <a:gd name="T13" fmla="*/ 41 h 41"/>
                <a:gd name="T14" fmla="*/ 1414 w 1414"/>
                <a:gd name="T15" fmla="*/ 1 h 41"/>
                <a:gd name="T16" fmla="*/ 1414 w 1414"/>
                <a:gd name="T1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41">
                  <a:moveTo>
                    <a:pt x="1414" y="0"/>
                  </a:moveTo>
                  <a:cubicBezTo>
                    <a:pt x="1409" y="6"/>
                    <a:pt x="1403" y="9"/>
                    <a:pt x="1396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0" y="9"/>
                    <a:pt x="4" y="6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3"/>
                    <a:pt x="18" y="41"/>
                    <a:pt x="40" y="41"/>
                  </a:cubicBezTo>
                  <a:cubicBezTo>
                    <a:pt x="1373" y="41"/>
                    <a:pt x="1373" y="41"/>
                    <a:pt x="1373" y="41"/>
                  </a:cubicBezTo>
                  <a:cubicBezTo>
                    <a:pt x="1396" y="41"/>
                    <a:pt x="1414" y="23"/>
                    <a:pt x="1414" y="1"/>
                  </a:cubicBezTo>
                  <a:lnTo>
                    <a:pt x="1414" y="0"/>
                  </a:lnTo>
                  <a:close/>
                </a:path>
              </a:pathLst>
            </a:custGeom>
            <a:solidFill>
              <a:srgbClr val="0C0D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25" name="íśľiḍê"/>
            <p:cNvSpPr/>
            <p:nvPr/>
          </p:nvSpPr>
          <p:spPr bwMode="auto">
            <a:xfrm>
              <a:off x="3049101" y="4763796"/>
              <a:ext cx="6093799" cy="111112"/>
            </a:xfrm>
            <a:prstGeom prst="rect">
              <a:avLst/>
            </a:prstGeom>
            <a:solidFill>
              <a:srgbClr val="D2D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26" name="ïṩľîḍê"/>
            <p:cNvSpPr/>
            <p:nvPr/>
          </p:nvSpPr>
          <p:spPr bwMode="auto">
            <a:xfrm>
              <a:off x="5656759" y="4763796"/>
              <a:ext cx="875007" cy="62500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27" name="îṥḷíḋe"/>
            <p:cNvSpPr/>
            <p:nvPr/>
          </p:nvSpPr>
          <p:spPr bwMode="auto">
            <a:xfrm>
              <a:off x="3830356" y="1676968"/>
              <a:ext cx="4579898" cy="2892385"/>
            </a:xfrm>
            <a:prstGeom prst="rect">
              <a:avLst/>
            </a:prstGeom>
            <a:solidFill>
              <a:srgbClr val="0C0D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28" name="iṣlïḍe"/>
            <p:cNvSpPr/>
            <p:nvPr/>
          </p:nvSpPr>
          <p:spPr bwMode="auto">
            <a:xfrm>
              <a:off x="3844245" y="1694329"/>
              <a:ext cx="4548647" cy="286113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29" name="iṥ1îḑe"/>
            <p:cNvSpPr/>
            <p:nvPr/>
          </p:nvSpPr>
          <p:spPr bwMode="auto">
            <a:xfrm>
              <a:off x="6090792" y="1555439"/>
              <a:ext cx="52085" cy="52085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30" name="ïṣlïde"/>
            <p:cNvSpPr/>
            <p:nvPr/>
          </p:nvSpPr>
          <p:spPr bwMode="auto">
            <a:xfrm>
              <a:off x="6090792" y="1551967"/>
              <a:ext cx="52085" cy="48611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31" name="iṣľiḍe"/>
            <p:cNvSpPr/>
            <p:nvPr/>
          </p:nvSpPr>
          <p:spPr bwMode="auto">
            <a:xfrm>
              <a:off x="6101207" y="1558912"/>
              <a:ext cx="31250" cy="3472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32" name="ïślíďe"/>
            <p:cNvSpPr/>
            <p:nvPr/>
          </p:nvSpPr>
          <p:spPr bwMode="auto">
            <a:xfrm>
              <a:off x="6108152" y="1569328"/>
              <a:ext cx="17362" cy="17362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33" name="i$ḻïdé"/>
            <p:cNvSpPr/>
            <p:nvPr/>
          </p:nvSpPr>
          <p:spPr bwMode="auto">
            <a:xfrm>
              <a:off x="6115096" y="1572801"/>
              <a:ext cx="3473" cy="6944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1 h 2"/>
                <a:gd name="T6" fmla="*/ 1 w 1"/>
                <a:gd name="T7" fmla="*/ 0 h 2"/>
                <a:gd name="T8" fmla="*/ 1 w 1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34" name="î$1ídè"/>
            <p:cNvSpPr/>
            <p:nvPr/>
          </p:nvSpPr>
          <p:spPr>
            <a:xfrm>
              <a:off x="3813047" y="1690855"/>
              <a:ext cx="4597207" cy="2878498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uFillTx/>
                <a:sym typeface="Calibri" panose="020F0502020204030204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640" y="4416425"/>
            <a:ext cx="1814830" cy="1023620"/>
          </a:xfrm>
          <a:prstGeom prst="rect">
            <a:avLst/>
          </a:prstGeom>
        </p:spPr>
      </p:pic>
      <p:grpSp>
        <p:nvGrpSpPr>
          <p:cNvPr id="35" name="išlíḓé"/>
          <p:cNvGrpSpPr/>
          <p:nvPr/>
        </p:nvGrpSpPr>
        <p:grpSpPr>
          <a:xfrm rot="0">
            <a:off x="9232900" y="2307590"/>
            <a:ext cx="2432685" cy="1232535"/>
            <a:chOff x="3049101" y="1447800"/>
            <a:chExt cx="6093799" cy="3506972"/>
          </a:xfrm>
        </p:grpSpPr>
        <p:sp>
          <p:nvSpPr>
            <p:cNvPr id="36" name="íṡḻîḋè"/>
            <p:cNvSpPr/>
            <p:nvPr/>
          </p:nvSpPr>
          <p:spPr bwMode="auto">
            <a:xfrm>
              <a:off x="3049101" y="4819353"/>
              <a:ext cx="3069469" cy="135419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37" name="ï$ľiḋé"/>
            <p:cNvSpPr/>
            <p:nvPr/>
          </p:nvSpPr>
          <p:spPr bwMode="auto">
            <a:xfrm>
              <a:off x="6073429" y="4819353"/>
              <a:ext cx="3069469" cy="135419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38" name="ïSļídé"/>
            <p:cNvSpPr/>
            <p:nvPr/>
          </p:nvSpPr>
          <p:spPr bwMode="auto">
            <a:xfrm>
              <a:off x="3649798" y="1447800"/>
              <a:ext cx="4937539" cy="3381971"/>
            </a:xfrm>
            <a:custGeom>
              <a:avLst/>
              <a:gdLst>
                <a:gd name="T0" fmla="*/ 1378 w 1423"/>
                <a:gd name="T1" fmla="*/ 0 h 974"/>
                <a:gd name="T2" fmla="*/ 45 w 1423"/>
                <a:gd name="T3" fmla="*/ 0 h 974"/>
                <a:gd name="T4" fmla="*/ 0 w 1423"/>
                <a:gd name="T5" fmla="*/ 45 h 974"/>
                <a:gd name="T6" fmla="*/ 0 w 1423"/>
                <a:gd name="T7" fmla="*/ 218 h 974"/>
                <a:gd name="T8" fmla="*/ 0 w 1423"/>
                <a:gd name="T9" fmla="*/ 929 h 974"/>
                <a:gd name="T10" fmla="*/ 45 w 1423"/>
                <a:gd name="T11" fmla="*/ 974 h 974"/>
                <a:gd name="T12" fmla="*/ 1378 w 1423"/>
                <a:gd name="T13" fmla="*/ 974 h 974"/>
                <a:gd name="T14" fmla="*/ 1423 w 1423"/>
                <a:gd name="T15" fmla="*/ 929 h 974"/>
                <a:gd name="T16" fmla="*/ 1423 w 1423"/>
                <a:gd name="T17" fmla="*/ 45 h 974"/>
                <a:gd name="T18" fmla="*/ 1378 w 1423"/>
                <a:gd name="T19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3" h="974">
                  <a:moveTo>
                    <a:pt x="1378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929"/>
                    <a:pt x="0" y="929"/>
                    <a:pt x="0" y="929"/>
                  </a:cubicBezTo>
                  <a:cubicBezTo>
                    <a:pt x="0" y="954"/>
                    <a:pt x="20" y="974"/>
                    <a:pt x="45" y="974"/>
                  </a:cubicBezTo>
                  <a:cubicBezTo>
                    <a:pt x="1378" y="974"/>
                    <a:pt x="1378" y="974"/>
                    <a:pt x="1378" y="974"/>
                  </a:cubicBezTo>
                  <a:cubicBezTo>
                    <a:pt x="1403" y="974"/>
                    <a:pt x="1423" y="954"/>
                    <a:pt x="1423" y="929"/>
                  </a:cubicBezTo>
                  <a:cubicBezTo>
                    <a:pt x="1423" y="45"/>
                    <a:pt x="1423" y="45"/>
                    <a:pt x="1423" y="45"/>
                  </a:cubicBezTo>
                  <a:cubicBezTo>
                    <a:pt x="1423" y="20"/>
                    <a:pt x="1403" y="0"/>
                    <a:pt x="1378" y="0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39" name="î$ľiḋé"/>
            <p:cNvSpPr/>
            <p:nvPr/>
          </p:nvSpPr>
          <p:spPr bwMode="auto">
            <a:xfrm>
              <a:off x="3667161" y="1465160"/>
              <a:ext cx="4906289" cy="3347249"/>
            </a:xfrm>
            <a:custGeom>
              <a:avLst/>
              <a:gdLst>
                <a:gd name="T0" fmla="*/ 40 w 1414"/>
                <a:gd name="T1" fmla="*/ 964 h 964"/>
                <a:gd name="T2" fmla="*/ 0 w 1414"/>
                <a:gd name="T3" fmla="*/ 924 h 964"/>
                <a:gd name="T4" fmla="*/ 0 w 1414"/>
                <a:gd name="T5" fmla="*/ 40 h 964"/>
                <a:gd name="T6" fmla="*/ 40 w 1414"/>
                <a:gd name="T7" fmla="*/ 0 h 964"/>
                <a:gd name="T8" fmla="*/ 1373 w 1414"/>
                <a:gd name="T9" fmla="*/ 0 h 964"/>
                <a:gd name="T10" fmla="*/ 1414 w 1414"/>
                <a:gd name="T11" fmla="*/ 40 h 964"/>
                <a:gd name="T12" fmla="*/ 1414 w 1414"/>
                <a:gd name="T13" fmla="*/ 924 h 964"/>
                <a:gd name="T14" fmla="*/ 1373 w 1414"/>
                <a:gd name="T15" fmla="*/ 964 h 964"/>
                <a:gd name="T16" fmla="*/ 40 w 1414"/>
                <a:gd name="T17" fmla="*/ 96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964">
                  <a:moveTo>
                    <a:pt x="40" y="964"/>
                  </a:moveTo>
                  <a:cubicBezTo>
                    <a:pt x="18" y="964"/>
                    <a:pt x="0" y="946"/>
                    <a:pt x="0" y="92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373" y="0"/>
                    <a:pt x="1373" y="0"/>
                    <a:pt x="1373" y="0"/>
                  </a:cubicBezTo>
                  <a:cubicBezTo>
                    <a:pt x="1396" y="0"/>
                    <a:pt x="1414" y="18"/>
                    <a:pt x="1414" y="40"/>
                  </a:cubicBezTo>
                  <a:cubicBezTo>
                    <a:pt x="1414" y="924"/>
                    <a:pt x="1414" y="924"/>
                    <a:pt x="1414" y="924"/>
                  </a:cubicBezTo>
                  <a:cubicBezTo>
                    <a:pt x="1414" y="946"/>
                    <a:pt x="1396" y="964"/>
                    <a:pt x="1373" y="964"/>
                  </a:cubicBezTo>
                  <a:lnTo>
                    <a:pt x="40" y="964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40" name="îSlíḑe"/>
            <p:cNvSpPr/>
            <p:nvPr/>
          </p:nvSpPr>
          <p:spPr bwMode="auto">
            <a:xfrm>
              <a:off x="3667161" y="4670049"/>
              <a:ext cx="4906289" cy="142363"/>
            </a:xfrm>
            <a:custGeom>
              <a:avLst/>
              <a:gdLst>
                <a:gd name="T0" fmla="*/ 1414 w 1414"/>
                <a:gd name="T1" fmla="*/ 0 h 41"/>
                <a:gd name="T2" fmla="*/ 1396 w 1414"/>
                <a:gd name="T3" fmla="*/ 9 h 41"/>
                <a:gd name="T4" fmla="*/ 18 w 1414"/>
                <a:gd name="T5" fmla="*/ 9 h 41"/>
                <a:gd name="T6" fmla="*/ 0 w 1414"/>
                <a:gd name="T7" fmla="*/ 0 h 41"/>
                <a:gd name="T8" fmla="*/ 0 w 1414"/>
                <a:gd name="T9" fmla="*/ 1 h 41"/>
                <a:gd name="T10" fmla="*/ 40 w 1414"/>
                <a:gd name="T11" fmla="*/ 41 h 41"/>
                <a:gd name="T12" fmla="*/ 1373 w 1414"/>
                <a:gd name="T13" fmla="*/ 41 h 41"/>
                <a:gd name="T14" fmla="*/ 1414 w 1414"/>
                <a:gd name="T15" fmla="*/ 1 h 41"/>
                <a:gd name="T16" fmla="*/ 1414 w 1414"/>
                <a:gd name="T1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41">
                  <a:moveTo>
                    <a:pt x="1414" y="0"/>
                  </a:moveTo>
                  <a:cubicBezTo>
                    <a:pt x="1409" y="6"/>
                    <a:pt x="1403" y="9"/>
                    <a:pt x="1396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0" y="9"/>
                    <a:pt x="4" y="6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3"/>
                    <a:pt x="18" y="41"/>
                    <a:pt x="40" y="41"/>
                  </a:cubicBezTo>
                  <a:cubicBezTo>
                    <a:pt x="1373" y="41"/>
                    <a:pt x="1373" y="41"/>
                    <a:pt x="1373" y="41"/>
                  </a:cubicBezTo>
                  <a:cubicBezTo>
                    <a:pt x="1396" y="41"/>
                    <a:pt x="1414" y="23"/>
                    <a:pt x="1414" y="1"/>
                  </a:cubicBezTo>
                  <a:lnTo>
                    <a:pt x="1414" y="0"/>
                  </a:lnTo>
                  <a:close/>
                </a:path>
              </a:pathLst>
            </a:custGeom>
            <a:solidFill>
              <a:srgbClr val="0C0D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41" name="íśľiḍê"/>
            <p:cNvSpPr/>
            <p:nvPr/>
          </p:nvSpPr>
          <p:spPr bwMode="auto">
            <a:xfrm>
              <a:off x="3049101" y="4763796"/>
              <a:ext cx="6093799" cy="111112"/>
            </a:xfrm>
            <a:prstGeom prst="rect">
              <a:avLst/>
            </a:prstGeom>
            <a:solidFill>
              <a:srgbClr val="D2D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42" name="ïṩľîḍê"/>
            <p:cNvSpPr/>
            <p:nvPr/>
          </p:nvSpPr>
          <p:spPr bwMode="auto">
            <a:xfrm>
              <a:off x="5656759" y="4763796"/>
              <a:ext cx="875007" cy="62500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43" name="îṥḷíḋe"/>
            <p:cNvSpPr/>
            <p:nvPr/>
          </p:nvSpPr>
          <p:spPr bwMode="auto">
            <a:xfrm>
              <a:off x="3830356" y="1676968"/>
              <a:ext cx="4579898" cy="2892385"/>
            </a:xfrm>
            <a:prstGeom prst="rect">
              <a:avLst/>
            </a:prstGeom>
            <a:solidFill>
              <a:srgbClr val="0C0D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44" name="iṣlïḍe"/>
            <p:cNvSpPr/>
            <p:nvPr/>
          </p:nvSpPr>
          <p:spPr bwMode="auto">
            <a:xfrm>
              <a:off x="3844245" y="1694329"/>
              <a:ext cx="4548647" cy="286113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45" name="iṥ1îḑe"/>
            <p:cNvSpPr/>
            <p:nvPr/>
          </p:nvSpPr>
          <p:spPr bwMode="auto">
            <a:xfrm>
              <a:off x="6090792" y="1555439"/>
              <a:ext cx="52085" cy="52085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46" name="ïṣlïde"/>
            <p:cNvSpPr/>
            <p:nvPr/>
          </p:nvSpPr>
          <p:spPr bwMode="auto">
            <a:xfrm>
              <a:off x="6090792" y="1551967"/>
              <a:ext cx="52085" cy="48611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47" name="iṣľiḍe"/>
            <p:cNvSpPr/>
            <p:nvPr/>
          </p:nvSpPr>
          <p:spPr bwMode="auto">
            <a:xfrm>
              <a:off x="6101207" y="1558912"/>
              <a:ext cx="31250" cy="3472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48" name="ïślíďe"/>
            <p:cNvSpPr/>
            <p:nvPr/>
          </p:nvSpPr>
          <p:spPr bwMode="auto">
            <a:xfrm>
              <a:off x="6108152" y="1569328"/>
              <a:ext cx="17362" cy="17362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49" name="i$ḻïdé"/>
            <p:cNvSpPr/>
            <p:nvPr/>
          </p:nvSpPr>
          <p:spPr bwMode="auto">
            <a:xfrm>
              <a:off x="6115096" y="1572801"/>
              <a:ext cx="3473" cy="6944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1 h 2"/>
                <a:gd name="T6" fmla="*/ 1 w 1"/>
                <a:gd name="T7" fmla="*/ 0 h 2"/>
                <a:gd name="T8" fmla="*/ 1 w 1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50" name="î$1ídè"/>
            <p:cNvSpPr/>
            <p:nvPr/>
          </p:nvSpPr>
          <p:spPr>
            <a:xfrm>
              <a:off x="3813047" y="1690855"/>
              <a:ext cx="4597207" cy="2878498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uFillTx/>
                <a:sym typeface="Calibri" panose="020F0502020204030204"/>
              </a:endParaRPr>
            </a:p>
          </p:txBody>
        </p:sp>
      </p:grpSp>
      <p:grpSp>
        <p:nvGrpSpPr>
          <p:cNvPr id="51" name="išlíḓé"/>
          <p:cNvGrpSpPr/>
          <p:nvPr/>
        </p:nvGrpSpPr>
        <p:grpSpPr>
          <a:xfrm rot="0">
            <a:off x="9284970" y="4387850"/>
            <a:ext cx="2432685" cy="1232535"/>
            <a:chOff x="3049101" y="1447800"/>
            <a:chExt cx="6093799" cy="3506972"/>
          </a:xfrm>
        </p:grpSpPr>
        <p:sp>
          <p:nvSpPr>
            <p:cNvPr id="52" name="íṡḻîḋè"/>
            <p:cNvSpPr/>
            <p:nvPr/>
          </p:nvSpPr>
          <p:spPr bwMode="auto">
            <a:xfrm>
              <a:off x="3049101" y="4819353"/>
              <a:ext cx="3069469" cy="135419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53" name="ï$ľiḋé"/>
            <p:cNvSpPr/>
            <p:nvPr/>
          </p:nvSpPr>
          <p:spPr bwMode="auto">
            <a:xfrm>
              <a:off x="6073429" y="4819353"/>
              <a:ext cx="3069469" cy="135419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54" name="ïSļídé"/>
            <p:cNvSpPr/>
            <p:nvPr/>
          </p:nvSpPr>
          <p:spPr bwMode="auto">
            <a:xfrm>
              <a:off x="3649798" y="1447800"/>
              <a:ext cx="4937539" cy="3381971"/>
            </a:xfrm>
            <a:custGeom>
              <a:avLst/>
              <a:gdLst>
                <a:gd name="T0" fmla="*/ 1378 w 1423"/>
                <a:gd name="T1" fmla="*/ 0 h 974"/>
                <a:gd name="T2" fmla="*/ 45 w 1423"/>
                <a:gd name="T3" fmla="*/ 0 h 974"/>
                <a:gd name="T4" fmla="*/ 0 w 1423"/>
                <a:gd name="T5" fmla="*/ 45 h 974"/>
                <a:gd name="T6" fmla="*/ 0 w 1423"/>
                <a:gd name="T7" fmla="*/ 218 h 974"/>
                <a:gd name="T8" fmla="*/ 0 w 1423"/>
                <a:gd name="T9" fmla="*/ 929 h 974"/>
                <a:gd name="T10" fmla="*/ 45 w 1423"/>
                <a:gd name="T11" fmla="*/ 974 h 974"/>
                <a:gd name="T12" fmla="*/ 1378 w 1423"/>
                <a:gd name="T13" fmla="*/ 974 h 974"/>
                <a:gd name="T14" fmla="*/ 1423 w 1423"/>
                <a:gd name="T15" fmla="*/ 929 h 974"/>
                <a:gd name="T16" fmla="*/ 1423 w 1423"/>
                <a:gd name="T17" fmla="*/ 45 h 974"/>
                <a:gd name="T18" fmla="*/ 1378 w 1423"/>
                <a:gd name="T19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3" h="974">
                  <a:moveTo>
                    <a:pt x="1378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929"/>
                    <a:pt x="0" y="929"/>
                    <a:pt x="0" y="929"/>
                  </a:cubicBezTo>
                  <a:cubicBezTo>
                    <a:pt x="0" y="954"/>
                    <a:pt x="20" y="974"/>
                    <a:pt x="45" y="974"/>
                  </a:cubicBezTo>
                  <a:cubicBezTo>
                    <a:pt x="1378" y="974"/>
                    <a:pt x="1378" y="974"/>
                    <a:pt x="1378" y="974"/>
                  </a:cubicBezTo>
                  <a:cubicBezTo>
                    <a:pt x="1403" y="974"/>
                    <a:pt x="1423" y="954"/>
                    <a:pt x="1423" y="929"/>
                  </a:cubicBezTo>
                  <a:cubicBezTo>
                    <a:pt x="1423" y="45"/>
                    <a:pt x="1423" y="45"/>
                    <a:pt x="1423" y="45"/>
                  </a:cubicBezTo>
                  <a:cubicBezTo>
                    <a:pt x="1423" y="20"/>
                    <a:pt x="1403" y="0"/>
                    <a:pt x="1378" y="0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55" name="î$ľiḋé"/>
            <p:cNvSpPr/>
            <p:nvPr/>
          </p:nvSpPr>
          <p:spPr bwMode="auto">
            <a:xfrm>
              <a:off x="3667161" y="1465160"/>
              <a:ext cx="4906289" cy="3347249"/>
            </a:xfrm>
            <a:custGeom>
              <a:avLst/>
              <a:gdLst>
                <a:gd name="T0" fmla="*/ 40 w 1414"/>
                <a:gd name="T1" fmla="*/ 964 h 964"/>
                <a:gd name="T2" fmla="*/ 0 w 1414"/>
                <a:gd name="T3" fmla="*/ 924 h 964"/>
                <a:gd name="T4" fmla="*/ 0 w 1414"/>
                <a:gd name="T5" fmla="*/ 40 h 964"/>
                <a:gd name="T6" fmla="*/ 40 w 1414"/>
                <a:gd name="T7" fmla="*/ 0 h 964"/>
                <a:gd name="T8" fmla="*/ 1373 w 1414"/>
                <a:gd name="T9" fmla="*/ 0 h 964"/>
                <a:gd name="T10" fmla="*/ 1414 w 1414"/>
                <a:gd name="T11" fmla="*/ 40 h 964"/>
                <a:gd name="T12" fmla="*/ 1414 w 1414"/>
                <a:gd name="T13" fmla="*/ 924 h 964"/>
                <a:gd name="T14" fmla="*/ 1373 w 1414"/>
                <a:gd name="T15" fmla="*/ 964 h 964"/>
                <a:gd name="T16" fmla="*/ 40 w 1414"/>
                <a:gd name="T17" fmla="*/ 96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964">
                  <a:moveTo>
                    <a:pt x="40" y="964"/>
                  </a:moveTo>
                  <a:cubicBezTo>
                    <a:pt x="18" y="964"/>
                    <a:pt x="0" y="946"/>
                    <a:pt x="0" y="92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373" y="0"/>
                    <a:pt x="1373" y="0"/>
                    <a:pt x="1373" y="0"/>
                  </a:cubicBezTo>
                  <a:cubicBezTo>
                    <a:pt x="1396" y="0"/>
                    <a:pt x="1414" y="18"/>
                    <a:pt x="1414" y="40"/>
                  </a:cubicBezTo>
                  <a:cubicBezTo>
                    <a:pt x="1414" y="924"/>
                    <a:pt x="1414" y="924"/>
                    <a:pt x="1414" y="924"/>
                  </a:cubicBezTo>
                  <a:cubicBezTo>
                    <a:pt x="1414" y="946"/>
                    <a:pt x="1396" y="964"/>
                    <a:pt x="1373" y="964"/>
                  </a:cubicBezTo>
                  <a:lnTo>
                    <a:pt x="40" y="964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56" name="îSlíḑe"/>
            <p:cNvSpPr/>
            <p:nvPr/>
          </p:nvSpPr>
          <p:spPr bwMode="auto">
            <a:xfrm>
              <a:off x="3667161" y="4670049"/>
              <a:ext cx="4906289" cy="142363"/>
            </a:xfrm>
            <a:custGeom>
              <a:avLst/>
              <a:gdLst>
                <a:gd name="T0" fmla="*/ 1414 w 1414"/>
                <a:gd name="T1" fmla="*/ 0 h 41"/>
                <a:gd name="T2" fmla="*/ 1396 w 1414"/>
                <a:gd name="T3" fmla="*/ 9 h 41"/>
                <a:gd name="T4" fmla="*/ 18 w 1414"/>
                <a:gd name="T5" fmla="*/ 9 h 41"/>
                <a:gd name="T6" fmla="*/ 0 w 1414"/>
                <a:gd name="T7" fmla="*/ 0 h 41"/>
                <a:gd name="T8" fmla="*/ 0 w 1414"/>
                <a:gd name="T9" fmla="*/ 1 h 41"/>
                <a:gd name="T10" fmla="*/ 40 w 1414"/>
                <a:gd name="T11" fmla="*/ 41 h 41"/>
                <a:gd name="T12" fmla="*/ 1373 w 1414"/>
                <a:gd name="T13" fmla="*/ 41 h 41"/>
                <a:gd name="T14" fmla="*/ 1414 w 1414"/>
                <a:gd name="T15" fmla="*/ 1 h 41"/>
                <a:gd name="T16" fmla="*/ 1414 w 1414"/>
                <a:gd name="T1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41">
                  <a:moveTo>
                    <a:pt x="1414" y="0"/>
                  </a:moveTo>
                  <a:cubicBezTo>
                    <a:pt x="1409" y="6"/>
                    <a:pt x="1403" y="9"/>
                    <a:pt x="1396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0" y="9"/>
                    <a:pt x="4" y="6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3"/>
                    <a:pt x="18" y="41"/>
                    <a:pt x="40" y="41"/>
                  </a:cubicBezTo>
                  <a:cubicBezTo>
                    <a:pt x="1373" y="41"/>
                    <a:pt x="1373" y="41"/>
                    <a:pt x="1373" y="41"/>
                  </a:cubicBezTo>
                  <a:cubicBezTo>
                    <a:pt x="1396" y="41"/>
                    <a:pt x="1414" y="23"/>
                    <a:pt x="1414" y="1"/>
                  </a:cubicBezTo>
                  <a:lnTo>
                    <a:pt x="1414" y="0"/>
                  </a:lnTo>
                  <a:close/>
                </a:path>
              </a:pathLst>
            </a:custGeom>
            <a:solidFill>
              <a:srgbClr val="0C0D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57" name="íśľiḍê"/>
            <p:cNvSpPr/>
            <p:nvPr/>
          </p:nvSpPr>
          <p:spPr bwMode="auto">
            <a:xfrm>
              <a:off x="3049101" y="4763796"/>
              <a:ext cx="6093799" cy="111112"/>
            </a:xfrm>
            <a:prstGeom prst="rect">
              <a:avLst/>
            </a:prstGeom>
            <a:solidFill>
              <a:srgbClr val="D2D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58" name="ïṩľîḍê"/>
            <p:cNvSpPr/>
            <p:nvPr/>
          </p:nvSpPr>
          <p:spPr bwMode="auto">
            <a:xfrm>
              <a:off x="5656759" y="4763796"/>
              <a:ext cx="875007" cy="62500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59" name="îṥḷíḋe"/>
            <p:cNvSpPr/>
            <p:nvPr/>
          </p:nvSpPr>
          <p:spPr bwMode="auto">
            <a:xfrm>
              <a:off x="3830356" y="1676968"/>
              <a:ext cx="4579898" cy="2892385"/>
            </a:xfrm>
            <a:prstGeom prst="rect">
              <a:avLst/>
            </a:prstGeom>
            <a:solidFill>
              <a:srgbClr val="0C0D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60" name="iṣlïḍe"/>
            <p:cNvSpPr/>
            <p:nvPr/>
          </p:nvSpPr>
          <p:spPr bwMode="auto">
            <a:xfrm>
              <a:off x="3844245" y="1694329"/>
              <a:ext cx="4548647" cy="286113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61" name="iṥ1îḑe"/>
            <p:cNvSpPr/>
            <p:nvPr/>
          </p:nvSpPr>
          <p:spPr bwMode="auto">
            <a:xfrm>
              <a:off x="6090792" y="1555439"/>
              <a:ext cx="52085" cy="52085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62" name="ïṣlïde"/>
            <p:cNvSpPr/>
            <p:nvPr/>
          </p:nvSpPr>
          <p:spPr bwMode="auto">
            <a:xfrm>
              <a:off x="6090792" y="1551967"/>
              <a:ext cx="52085" cy="48611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63" name="iṣľiḍe"/>
            <p:cNvSpPr/>
            <p:nvPr/>
          </p:nvSpPr>
          <p:spPr bwMode="auto">
            <a:xfrm>
              <a:off x="6101207" y="1558912"/>
              <a:ext cx="31250" cy="3472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64" name="ïślíďe"/>
            <p:cNvSpPr/>
            <p:nvPr/>
          </p:nvSpPr>
          <p:spPr bwMode="auto">
            <a:xfrm>
              <a:off x="6108152" y="1569328"/>
              <a:ext cx="17362" cy="17362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65" name="i$ḻïdé"/>
            <p:cNvSpPr/>
            <p:nvPr/>
          </p:nvSpPr>
          <p:spPr bwMode="auto">
            <a:xfrm>
              <a:off x="6115096" y="1572801"/>
              <a:ext cx="3473" cy="6944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1 h 2"/>
                <a:gd name="T6" fmla="*/ 1 w 1"/>
                <a:gd name="T7" fmla="*/ 0 h 2"/>
                <a:gd name="T8" fmla="*/ 1 w 1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 panose="020F0502020204030204"/>
              </a:endParaRPr>
            </a:p>
          </p:txBody>
        </p:sp>
        <p:sp>
          <p:nvSpPr>
            <p:cNvPr id="66" name="î$1ídè"/>
            <p:cNvSpPr/>
            <p:nvPr/>
          </p:nvSpPr>
          <p:spPr>
            <a:xfrm>
              <a:off x="3813047" y="1690855"/>
              <a:ext cx="4597207" cy="2878498"/>
            </a:xfrm>
            <a:prstGeom prst="rect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54405" hangingPunct="0">
                <a:spcBef>
                  <a:spcPts val="0"/>
                </a:spcBef>
                <a:spcAft>
                  <a:spcPts val="0"/>
                </a:spcAft>
              </a:pPr>
              <a:endParaRPr sz="2100" kern="0">
                <a:uFillTx/>
                <a:sym typeface="Calibri" panose="020F0502020204030204"/>
              </a:endParaRPr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t="42053"/>
          <a:stretch>
            <a:fillRect/>
          </a:stretch>
        </p:blipFill>
        <p:spPr>
          <a:xfrm>
            <a:off x="9610090" y="4468495"/>
            <a:ext cx="1814830" cy="107886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rcRect l="6996"/>
          <a:stretch>
            <a:fillRect/>
          </a:stretch>
        </p:blipFill>
        <p:spPr>
          <a:xfrm>
            <a:off x="9551035" y="2393950"/>
            <a:ext cx="1837690" cy="10052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87400" y="431800"/>
            <a:ext cx="90551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核心功能三：AI Agent智能问答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00100" y="1257300"/>
            <a:ext cx="10287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本功能旨在通过AI Agent为会议提供精准、安全的智能问答服务。它严格限定在所选会议及历史会议内容范围内进行交互，支持多轮上下文对话与知识检索，所有问答记录均可编辑与追溯，有效提升会议信息获取效率与决策质量。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2532380"/>
            <a:ext cx="5080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529B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952500" y="272288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460500" y="2595880"/>
            <a:ext cx="4191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会议专属问答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基于所选会议+历史会议，精准问答，内容可编辑留存。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762000" y="3724910"/>
            <a:ext cx="5080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529B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952500" y="391541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460500" y="3788410"/>
            <a:ext cx="4191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多轮上下文对话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关联上下文多轮交互，精准识别意图，支持追问与历史追溯。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762000" y="4963160"/>
            <a:ext cx="5080000" cy="8255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529B">
                <a:alpha val="1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529B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952500" y="515366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1460500" y="5026660"/>
            <a:ext cx="4191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知识检索与辅助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快速检索纪要、决策等内容，调用知识库辅助解答与推荐。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743700" y="2476500"/>
            <a:ext cx="3975100" cy="3898900"/>
          </a:xfrm>
          <a:prstGeom prst="roundRect">
            <a:avLst>
              <a:gd name="adj" fmla="val 4234"/>
            </a:avLst>
          </a:prstGeom>
          <a:solidFill>
            <a:srgbClr val="F1F5F9">
              <a:alpha val="100000"/>
            </a:srgbClr>
          </a:solidFill>
          <a:ln w="25400" cap="flat" cmpd="sng">
            <a:solidFill>
              <a:srgbClr val="E2E8F0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10185400" y="2590800"/>
            <a:ext cx="444500" cy="444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5943600" y="201930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“AI Agent智能问答”功能交互界面截图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7162800" y="2578100"/>
            <a:ext cx="2794000" cy="3657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98500"/>
            <a:ext cx="7048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核心功能四：协同与权限管理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105918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254508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529B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52500" y="273558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587500" y="2608580"/>
            <a:ext cx="4381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多人协同办公</a:t>
            </a:r>
            <a:endParaRPr lang="en-US" sz="1100"/>
          </a:p>
          <a:p>
            <a:pPr indent="0" algn="l">
              <a:lnSpc>
                <a:spcPct val="92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多端实时协同编辑；任务精准到人分配；协作状态实时可见；协作内容一键合并。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848100"/>
            <a:ext cx="43434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529B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4038600"/>
            <a:ext cx="4191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1587500" y="3911600"/>
            <a:ext cx="33274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细粒度权限管控</a:t>
            </a:r>
            <a:endParaRPr lang="en-US" sz="1100"/>
          </a:p>
          <a:p>
            <a:pPr indent="0" algn="l">
              <a:lnSpc>
                <a:spcPct val="92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角色化权限配置；权限精准到个人；数据权限分级管理；权限变更实时生效。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53175" y="255016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529B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43675" y="274066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7178675" y="2613660"/>
            <a:ext cx="43815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全流程数据安全</a:t>
            </a:r>
            <a:endParaRPr lang="en-US" sz="1100"/>
          </a:p>
          <a:p>
            <a:pPr indent="0" algn="l">
              <a:lnSpc>
                <a:spcPct val="92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全链路数据加密，符合等保合规；操作全量审计；敏感信息自动脱敏；支持水印防截屏。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052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635625" y="3848100"/>
            <a:ext cx="6025515" cy="20605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7"/>
          <p:cNvSpPr/>
          <p:nvPr/>
        </p:nvSpPr>
        <p:spPr>
          <a:xfrm>
            <a:off x="762000" y="5214620"/>
            <a:ext cx="43434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529B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文本框 15"/>
          <p:cNvSpPr txBox="1"/>
          <p:nvPr/>
        </p:nvSpPr>
        <p:spPr>
          <a:xfrm>
            <a:off x="1460500" y="5285105"/>
            <a:ext cx="3728720" cy="7067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>
                <a:solidFill>
                  <a:srgbClr val="00529B"/>
                </a:solidFill>
                <a:latin typeface="Noto Sans SC" panose="020B0200000000000000" charset="-122"/>
                <a:ea typeface="Noto Sans SC" panose="020B0200000000000000" charset="-122"/>
              </a:rPr>
              <a:t>日程协同</a:t>
            </a:r>
            <a:endParaRPr lang="zh-CN" altLang="en-US" sz="1600" b="1">
              <a:solidFill>
                <a:srgbClr val="00529B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altLang="en-US" sz="120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</a:rPr>
              <a:t>支持会议日程与个人日历同步，自动发送会议邀请，实时同步会议时间变更，确保参会者日程一致。</a:t>
            </a:r>
            <a:endParaRPr lang="zh-CN" altLang="en-US" sz="1200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420" y="5248275"/>
            <a:ext cx="640080" cy="78295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62000" y="1585595"/>
            <a:ext cx="10898505" cy="555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08000"/>
              </a:lnSpc>
              <a:defRPr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智慧通的协同与权限管理功能，重点支持日程协同、多人协作与任务清单共享。同时，提供精细化的权限控制，针对不同角色设置差异化的数据访问和操作权限，确保数据安全与合规，让团队协作更高效、更安全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3.4,&quot;left&quot;:80,&quot;top&quot;:184.6,&quot;width&quot;:1049.3}"/>
</p:tagLst>
</file>

<file path=ppt/tags/tag2.xml><?xml version="1.0" encoding="utf-8"?>
<p:tagLst xmlns:p="http://schemas.openxmlformats.org/presentationml/2006/main">
  <p:tag name="KSO_WM_DIAGRAM_VIRTUALLY_FRAME" val="{&quot;height&quot;:303.4,&quot;left&quot;:80,&quot;top&quot;:184.6,&quot;width&quot;:1049.3}"/>
</p:tagLst>
</file>

<file path=ppt/tags/tag3.xml><?xml version="1.0" encoding="utf-8"?>
<p:tagLst xmlns:p="http://schemas.openxmlformats.org/presentationml/2006/main">
  <p:tag name="KSO_WM_DIAGRAM_VIRTUALLY_FRAME" val="{&quot;height&quot;:303.4,&quot;left&quot;:80,&quot;top&quot;:184.6,&quot;width&quot;:1049.3}"/>
</p:tagLst>
</file>

<file path=ppt/tags/tag4.xml><?xml version="1.0" encoding="utf-8"?>
<p:tagLst xmlns:p="http://schemas.openxmlformats.org/presentationml/2006/main">
  <p:tag name="KSO_WM_DIAGRAM_VIRTUALLY_FRAME" val="{&quot;height&quot;:303.4,&quot;left&quot;:80,&quot;top&quot;:184.6,&quot;width&quot;:1049.3}"/>
</p:tagLst>
</file>

<file path=ppt/tags/tag5.xml><?xml version="1.0" encoding="utf-8"?>
<p:tagLst xmlns:p="http://schemas.openxmlformats.org/presentationml/2006/main">
  <p:tag name="KSO_WM_DIAGRAM_VIRTUALLY_FRAME" val="{&quot;height&quot;:303.4,&quot;left&quot;:80,&quot;top&quot;:184.6,&quot;width&quot;:1049.3}"/>
</p:tagLst>
</file>

<file path=ppt/tags/tag6.xml><?xml version="1.0" encoding="utf-8"?>
<p:tagLst xmlns:p="http://schemas.openxmlformats.org/presentationml/2006/main">
  <p:tag name="KSO_WM_DIAGRAM_VIRTUALLY_FRAME" val="{&quot;height&quot;:303.4,&quot;left&quot;:80,&quot;top&quot;:184.6,&quot;width&quot;:1049.3}"/>
</p:tagLst>
</file>

<file path=ppt/tags/tag7.xml><?xml version="1.0" encoding="utf-8"?>
<p:tagLst xmlns:p="http://schemas.openxmlformats.org/presentationml/2006/main">
  <p:tag name="KSO_WM_DIAGRAM_VIRTUALLY_FRAME" val="{&quot;height&quot;:303.4,&quot;left&quot;:80,&quot;top&quot;:184.6,&quot;width&quot;:1049.3}"/>
</p:tagLst>
</file>

<file path=ppt/tags/tag8.xml><?xml version="1.0" encoding="utf-8"?>
<p:tagLst xmlns:p="http://schemas.openxmlformats.org/presentationml/2006/main">
  <p:tag name="KSO_WM_DIAGRAM_VIRTUALLY_FRAME" val="{&quot;height&quot;:303.4,&quot;left&quot;:80,&quot;top&quot;:184.6,&quot;width&quot;:1049.3}"/>
</p:tagLst>
</file>

<file path=ppt/tags/tag9.xml><?xml version="1.0" encoding="utf-8"?>
<p:tagLst xmlns:p="http://schemas.openxmlformats.org/presentationml/2006/main">
  <p:tag name="KSO_WM_DIAGRAM_VIRTUALLY_FRAME" val="{&quot;height&quot;:303.4,&quot;left&quot;:80,&quot;top&quot;:184.6,&quot;width&quot;:1049.3}"/>
</p:tagLst>
</file>

<file path=ppt/tags/tag10.xml><?xml version="1.0" encoding="utf-8"?>
<p:tagLst xmlns:p="http://schemas.openxmlformats.org/presentationml/2006/main">
  <p:tag name="KSO_WM_DIAGRAM_VIRTUALLY_FRAME" val="{&quot;height&quot;:303.4,&quot;left&quot;:80,&quot;top&quot;:184.6,&quot;width&quot;:1049.3}"/>
</p:tagLst>
</file>

<file path=ppt/tags/tag11.xml><?xml version="1.0" encoding="utf-8"?>
<p:tagLst xmlns:p="http://schemas.openxmlformats.org/presentationml/2006/main">
  <p:tag name="KSO_WM_DIAGRAM_VIRTUALLY_FRAME" val="{&quot;height&quot;:303.4,&quot;left&quot;:80,&quot;top&quot;:184.6,&quot;width&quot;:1049.3}"/>
</p:tagLst>
</file>

<file path=ppt/tags/tag12.xml><?xml version="1.0" encoding="utf-8"?>
<p:tagLst xmlns:p="http://schemas.openxmlformats.org/presentationml/2006/main">
  <p:tag name="KSO_WM_DIAGRAM_VIRTUALLY_FRAME" val="{&quot;height&quot;:303.4,&quot;left&quot;:80,&quot;top&quot;:184.6,&quot;width&quot;:1049.3}"/>
</p:tagLst>
</file>

<file path=ppt/tags/tag13.xml><?xml version="1.0" encoding="utf-8"?>
<p:tagLst xmlns:p="http://schemas.openxmlformats.org/presentationml/2006/main">
  <p:tag name="KSO_WM_DIAGRAM_VIRTUALLY_FRAME" val="{&quot;height&quot;:334.5253543307087,&quot;left&quot;:243.91307086614174,&quot;top&quot;:173.28606299212598,&quot;width&quot;:703.0701574803148}"/>
</p:tagLst>
</file>

<file path=ppt/tags/tag14.xml><?xml version="1.0" encoding="utf-8"?>
<p:tagLst xmlns:p="http://schemas.openxmlformats.org/presentationml/2006/main">
  <p:tag name="KSO_WM_DIAGRAM_VIRTUALLY_FRAME" val="{&quot;height&quot;:334.5253543307087,&quot;left&quot;:243.91307086614174,&quot;top&quot;:173.28606299212598,&quot;width&quot;:703.0701574803148}"/>
</p:tagLst>
</file>

<file path=ppt/tags/tag15.xml><?xml version="1.0" encoding="utf-8"?>
<p:tagLst xmlns:p="http://schemas.openxmlformats.org/presentationml/2006/main">
  <p:tag name="KSO_WM_DIAGRAM_VIRTUALLY_FRAME" val="{&quot;height&quot;:334.5253543307087,&quot;left&quot;:243.91307086614174,&quot;top&quot;:173.28606299212598,&quot;width&quot;:703.0701574803148}"/>
</p:tagLst>
</file>

<file path=ppt/tags/tag16.xml><?xml version="1.0" encoding="utf-8"?>
<p:tagLst xmlns:p="http://schemas.openxmlformats.org/presentationml/2006/main">
  <p:tag name="KSO_WM_DIAGRAM_VIRTUALLY_FRAME" val="{&quot;height&quot;:334.5253543307087,&quot;left&quot;:243.91307086614174,&quot;top&quot;:173.28606299212598,&quot;width&quot;:703.0701574803148}"/>
</p:tagLst>
</file>

<file path=ppt/tags/tag17.xml><?xml version="1.0" encoding="utf-8"?>
<p:tagLst xmlns:p="http://schemas.openxmlformats.org/presentationml/2006/main">
  <p:tag name="KSO_WM_DIAGRAM_VIRTUALLY_FRAME" val="{&quot;height&quot;:334.5253543307087,&quot;left&quot;:243.91307086614174,&quot;top&quot;:173.28606299212598,&quot;width&quot;:703.0701574803148}"/>
</p:tagLst>
</file>

<file path=ppt/tags/tag18.xml><?xml version="1.0" encoding="utf-8"?>
<p:tagLst xmlns:p="http://schemas.openxmlformats.org/presentationml/2006/main">
  <p:tag name="KSO_WM_DIAGRAM_VIRTUALLY_FRAME" val="{&quot;height&quot;:334.5253543307087,&quot;left&quot;:243.91307086614174,&quot;top&quot;:173.28606299212598,&quot;width&quot;:703.0701574803148}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DIAGRAM_VIRTUALLY_FRAME" val="{&quot;height&quot;:330.65,&quot;left&quot;:40.5,&quot;top&quot;:167.35,&quot;width&quot;:844.8}"/>
</p:tagLst>
</file>

<file path=ppt/tags/tag210.xml><?xml version="1.0" encoding="utf-8"?>
<p:tagLst xmlns:p="http://schemas.openxmlformats.org/presentationml/2006/main">
  <p:tag name="KSO_WM_DIAGRAM_VIRTUALLY_FRAME" val="{&quot;height&quot;:330.65,&quot;left&quot;:40.5,&quot;top&quot;:167.35,&quot;width&quot;:844.8}"/>
</p:tagLst>
</file>

<file path=ppt/tags/tag211.xml><?xml version="1.0" encoding="utf-8"?>
<p:tagLst xmlns:p="http://schemas.openxmlformats.org/presentationml/2006/main">
  <p:tag name="KSO_WM_DIAGRAM_VIRTUALLY_FRAME" val="{&quot;height&quot;:330.65,&quot;left&quot;:40.5,&quot;top&quot;:167.35,&quot;width&quot;:844.8}"/>
</p:tagLst>
</file>

<file path=ppt/tags/tag212.xml><?xml version="1.0" encoding="utf-8"?>
<p:tagLst xmlns:p="http://schemas.openxmlformats.org/presentationml/2006/main">
  <p:tag name="KSO_WM_DIAGRAM_VIRTUALLY_FRAME" val="{&quot;height&quot;:330.65,&quot;left&quot;:40.5,&quot;top&quot;:167.35,&quot;width&quot;:844.8}"/>
</p:tagLst>
</file>

<file path=ppt/tags/tag213.xml><?xml version="1.0" encoding="utf-8"?>
<p:tagLst xmlns:p="http://schemas.openxmlformats.org/presentationml/2006/main">
  <p:tag name="KSO_WM_DIAGRAM_VIRTUALLY_FRAME" val="{&quot;height&quot;:330.65,&quot;left&quot;:40.5,&quot;top&quot;:167.35,&quot;width&quot;:844.8}"/>
</p:tagLst>
</file>

<file path=ppt/tags/tag214.xml><?xml version="1.0" encoding="utf-8"?>
<p:tagLst xmlns:p="http://schemas.openxmlformats.org/presentationml/2006/main">
  <p:tag name="KSO_WM_DIAGRAM_VIRTUALLY_FRAME" val="{&quot;height&quot;:330.65,&quot;left&quot;:40.5,&quot;top&quot;:167.35,&quot;width&quot;:844.8}"/>
</p:tagLst>
</file>

<file path=ppt/tags/tag215.xml><?xml version="1.0" encoding="utf-8"?>
<p:tagLst xmlns:p="http://schemas.openxmlformats.org/presentationml/2006/main">
  <p:tag name="KSO_WM_DIAGRAM_VIRTUALLY_FRAME" val="{&quot;height&quot;:330.65,&quot;left&quot;:40.5,&quot;top&quot;:167.35,&quot;width&quot;:844.8}"/>
</p:tagLst>
</file>

<file path=ppt/tags/tag216.xml><?xml version="1.0" encoding="utf-8"?>
<p:tagLst xmlns:p="http://schemas.openxmlformats.org/presentationml/2006/main">
  <p:tag name="KSO_WM_DIAGRAM_VIRTUALLY_FRAME" val="{&quot;height&quot;:330.65,&quot;left&quot;:40.5,&quot;top&quot;:167.35,&quot;width&quot;:844.8}"/>
</p:tagLst>
</file>

<file path=ppt/tags/tag217.xml><?xml version="1.0" encoding="utf-8"?>
<p:tagLst xmlns:p="http://schemas.openxmlformats.org/presentationml/2006/main">
  <p:tag name="KSO_WM_DIAGRAM_VIRTUALLY_FRAME" val="{&quot;height&quot;:330.65,&quot;left&quot;:40.5,&quot;top&quot;:167.35,&quot;width&quot;:844.8}"/>
</p:tagLst>
</file>

<file path=ppt/tags/tag218.xml><?xml version="1.0" encoding="utf-8"?>
<p:tagLst xmlns:p="http://schemas.openxmlformats.org/presentationml/2006/main">
  <p:tag name="KSO_WM_DIAGRAM_VIRTUALLY_FRAME" val="{&quot;height&quot;:272,&quot;left&quot;:60,&quot;top&quot;:167,&quot;width&quot;:400}"/>
</p:tagLst>
</file>

<file path=ppt/tags/tag219.xml><?xml version="1.0" encoding="utf-8"?>
<p:tagLst xmlns:p="http://schemas.openxmlformats.org/presentationml/2006/main">
  <p:tag name="KSO_WM_DIAGRAM_VIRTUALLY_FRAME" val="{&quot;height&quot;:272,&quot;left&quot;:60,&quot;top&quot;:167,&quot;width&quot;:400}"/>
</p:tagLst>
</file>

<file path=ppt/tags/tag220.xml><?xml version="1.0" encoding="utf-8"?>
<p:tagLst xmlns:p="http://schemas.openxmlformats.org/presentationml/2006/main">
  <p:tag name="KSO_WM_DIAGRAM_VIRTUALLY_FRAME" val="{&quot;height&quot;:272,&quot;left&quot;:60,&quot;top&quot;:167,&quot;width&quot;:400}"/>
</p:tagLst>
</file>

<file path=ppt/tags/tag221.xml><?xml version="1.0" encoding="utf-8"?>
<p:tagLst xmlns:p="http://schemas.openxmlformats.org/presentationml/2006/main">
  <p:tag name="KSO_WM_DIAGRAM_VIRTUALLY_FRAME" val="{&quot;height&quot;:272,&quot;left&quot;:60,&quot;top&quot;:167,&quot;width&quot;:400}"/>
</p:tagLst>
</file>

<file path=ppt/tags/tag222.xml><?xml version="1.0" encoding="utf-8"?>
<p:tagLst xmlns:p="http://schemas.openxmlformats.org/presentationml/2006/main">
  <p:tag name="KSO_WM_DIAGRAM_VIRTUALLY_FRAME" val="{&quot;height&quot;:272,&quot;left&quot;:60,&quot;top&quot;:167,&quot;width&quot;:400}"/>
</p:tagLst>
</file>

<file path=ppt/tags/tag223.xml><?xml version="1.0" encoding="utf-8"?>
<p:tagLst xmlns:p="http://schemas.openxmlformats.org/presentationml/2006/main">
  <p:tag name="KSO_WM_DIAGRAM_VIRTUALLY_FRAME" val="{&quot;height&quot;:272,&quot;left&quot;:60,&quot;top&quot;:167,&quot;width&quot;:400}"/>
</p:tagLst>
</file>

<file path=ppt/tags/tag224.xml><?xml version="1.0" encoding="utf-8"?>
<p:tagLst xmlns:p="http://schemas.openxmlformats.org/presentationml/2006/main">
  <p:tag name="KSO_WM_DIAGRAM_VIRTUALLY_FRAME" val="{&quot;height&quot;:272,&quot;left&quot;:60,&quot;top&quot;:167,&quot;width&quot;:400}"/>
</p:tagLst>
</file>

<file path=ppt/tags/tag225.xml><?xml version="1.0" encoding="utf-8"?>
<p:tagLst xmlns:p="http://schemas.openxmlformats.org/presentationml/2006/main">
  <p:tag name="KSO_WM_DIAGRAM_VIRTUALLY_FRAME" val="{&quot;height&quot;:272,&quot;left&quot;:60,&quot;top&quot;:167,&quot;width&quot;:400}"/>
</p:tagLst>
</file>

<file path=ppt/tags/tag226.xml><?xml version="1.0" encoding="utf-8"?>
<p:tagLst xmlns:p="http://schemas.openxmlformats.org/presentationml/2006/main">
  <p:tag name="KSO_WM_DIAGRAM_VIRTUALLY_FRAME" val="{&quot;height&quot;:272,&quot;left&quot;:60,&quot;top&quot;:167,&quot;width&quot;:40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2818</Words>
  <Application>WPS 演示</Application>
  <PresentationFormat/>
  <Paragraphs>366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Songti SC</vt:lpstr>
      <vt:lpstr>Segoe Print</vt:lpstr>
      <vt:lpstr>Calibri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ヽ9eゞr亓</cp:lastModifiedBy>
  <cp:revision>1</cp:revision>
  <dcterms:created xsi:type="dcterms:W3CDTF">2026-06-03T06:41:21Z</dcterms:created>
  <dcterms:modified xsi:type="dcterms:W3CDTF">2026-06-03T06:41:21Z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6AD58339D7D542C489DCBD3C1006BBF9_13</vt:lpwstr>
  </property>
</Properties>
</file>